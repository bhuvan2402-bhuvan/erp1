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1091672" cy="5760720"/>
          </a:xfrm>
          <a:prstGeom prst="roundRect">
            <a:avLst>
              <a:gd name="adj" fmla="val 4762"/>
            </a:avLst>
          </a:prstGeom>
          <a:solidFill>
            <a:srgbClr val="131D31"/>
          </a:solidFill>
          <a:ln w="19050">
            <a:solidFill>
              <a:srgbClr val="00D2B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86868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14400" y="12344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Centralized Institutional Resource Planning, Anti-Proxy Attendance &amp; Activity Auditing Portal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for University Accreditation (NAAC/NIRF), Real-Time Financial Audits &amp; Departmental Unit Operations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2971800"/>
            <a:ext cx="2468880" cy="2194560"/>
          </a:xfrm>
          <a:prstGeom prst="roundRect">
            <a:avLst>
              <a:gd name="adj" fmla="val 6250"/>
            </a:avLst>
          </a:prstGeom>
          <a:solidFill>
            <a:srgbClr val="1A26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3108960"/>
            <a:ext cx="1188720" cy="256032"/>
          </a:xfrm>
          <a:prstGeom prst="roundRect">
            <a:avLst>
              <a:gd name="adj" fmla="val 35714"/>
            </a:avLst>
          </a:prstGeom>
          <a:solidFill>
            <a:srgbClr val="0A1220"/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31089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5-Year Trends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1560" y="34747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AY Monitoring Engine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402336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Multi-cycle analytics, YoY growth &amp; 1-click NAAC CSV export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20440" y="2971800"/>
            <a:ext cx="2468880" cy="2194560"/>
          </a:xfrm>
          <a:prstGeom prst="roundRect">
            <a:avLst>
              <a:gd name="adj" fmla="val 6250"/>
            </a:avLst>
          </a:prstGeom>
          <a:solidFill>
            <a:srgbClr val="1A2640"/>
          </a:solidFill>
          <a:ln w="12700">
            <a:solidFill>
              <a:srgbClr val="00D2B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0" y="3108960"/>
            <a:ext cx="1188720" cy="256032"/>
          </a:xfrm>
          <a:prstGeom prst="roundRect">
            <a:avLst>
              <a:gd name="adj" fmla="val 35714"/>
            </a:avLst>
          </a:prstGeom>
          <a:solidFill>
            <a:srgbClr val="0A1220"/>
          </a:solidFill>
          <a:ln w="6350">
            <a:solidFill>
              <a:srgbClr val="00D2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31089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₹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0" y="34747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Audit &amp; Ledger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402336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Budgets, operational spend, receipts &amp; audit reports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971800"/>
            <a:ext cx="2468880" cy="2194560"/>
          </a:xfrm>
          <a:prstGeom prst="roundRect">
            <a:avLst>
              <a:gd name="adj" fmla="val 6250"/>
            </a:avLst>
          </a:prstGeom>
          <a:solidFill>
            <a:srgbClr val="1A26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3108960"/>
            <a:ext cx="1188720" cy="256032"/>
          </a:xfrm>
          <a:prstGeom prst="roundRect">
            <a:avLst>
              <a:gd name="adj" fmla="val 35714"/>
            </a:avLst>
          </a:prstGeom>
          <a:solidFill>
            <a:srgbClr val="0A1220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31089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Proxy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263640" y="34747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Anti-Proxy QR Gate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402336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camera scanning &amp; +3 verified service hrs/camp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32520" y="2971800"/>
            <a:ext cx="2468880" cy="2194560"/>
          </a:xfrm>
          <a:prstGeom prst="roundRect">
            <a:avLst>
              <a:gd name="adj" fmla="val 6250"/>
            </a:avLst>
          </a:prstGeom>
          <a:solidFill>
            <a:srgbClr val="1A264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69680" y="3108960"/>
            <a:ext cx="1188720" cy="256032"/>
          </a:xfrm>
          <a:prstGeom prst="roundRect">
            <a:avLst>
              <a:gd name="adj" fmla="val 35714"/>
            </a:avLst>
          </a:prstGeom>
          <a:solidFill>
            <a:srgbClr val="0A1220"/>
          </a:solidFill>
          <a:ln w="6350">
            <a:solidFill>
              <a:srgbClr val="C084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69680" y="31089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Branches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869680" y="34747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Unit-Wise Event Media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69680" y="402336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Client-compressed drive photos &amp; public lightbox gallery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14400" y="5394960"/>
            <a:ext cx="10360152" cy="594360"/>
          </a:xfrm>
          <a:prstGeom prst="roundRect">
            <a:avLst>
              <a:gd name="adj" fmla="val 18462"/>
            </a:avLst>
          </a:prstGeom>
          <a:solidFill>
            <a:srgbClr val="0A1220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5394960"/>
            <a:ext cx="9966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Production Portal: https://erp-tan-six.vercel.app   •   Next.js 14  |  Prisma ORM  |  Supabase PostgreSQL  |  Vercel Edge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11480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11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&amp; VALUE PROPOSITION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880360" y="411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Operational Challenge vs The ERP Solution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92640" y="411480"/>
            <a:ext cx="1783080" cy="594360"/>
          </a:xfrm>
          <a:prstGeom prst="roundRect">
            <a:avLst>
              <a:gd name="adj" fmla="val 18462"/>
            </a:avLst>
          </a:prstGeom>
          <a:solidFill>
            <a:srgbClr val="0F172A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41148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Portal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25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 • NSS ERP Platform • https://erp-tan-six.vercel.app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5394960" cy="4983480"/>
          </a:xfrm>
          <a:prstGeom prst="roundRect">
            <a:avLst>
              <a:gd name="adj" fmla="val 3670"/>
            </a:avLst>
          </a:prstGeom>
          <a:solidFill>
            <a:srgbClr val="131D31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1417320"/>
            <a:ext cx="4937760" cy="411480"/>
          </a:xfrm>
          <a:prstGeom prst="roundRect">
            <a:avLst>
              <a:gd name="adj" fmla="val 26667"/>
            </a:avLst>
          </a:prstGeom>
          <a:solidFill>
            <a:srgbClr val="450A0A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Legacy Manual NSS Operations &amp; Risks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1965960"/>
            <a:ext cx="49377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Proxy Attendance Fraud: Paper sign-up sheets and shared QR screenshot forwarding lead to unverified volunteer hours.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Financial Accountability: Expenses and sponsorships tracked informally in WhatsApp groups without verified receipts.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Multi-Year Analytics: High administrative friction during NAAC/NIRF inspections due to missing historical trends.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Fragmented Photo Archives: Event memories lost across personal phones without captions or department attribution.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Unstructured Grievances: Volunteer complaints lost in chats without formal resolution status tracking.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234440"/>
            <a:ext cx="5394960" cy="4983480"/>
          </a:xfrm>
          <a:prstGeom prst="roundRect">
            <a:avLst>
              <a:gd name="adj" fmla="val 3670"/>
            </a:avLst>
          </a:prstGeom>
          <a:solidFill>
            <a:srgbClr val="131D31"/>
          </a:solidFill>
          <a:ln w="19050">
            <a:solidFill>
              <a:srgbClr val="00D2B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6520" y="1417320"/>
            <a:ext cx="4937760" cy="411480"/>
          </a:xfrm>
          <a:prstGeom prst="roundRect">
            <a:avLst>
              <a:gd name="adj" fmla="val 26667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417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VVITU NSS ERP Automated Capabilities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1965960"/>
            <a:ext cx="49377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Dynamic QR Gate: Time-sensitive projected QR codes verified via mobile camera (+3 verified service hours credited).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Centralized Audit Ledger: Budget utilization progress meters, itemized transaction ledgers &amp; 1-click audit CSV export.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Academic Year Monitoring: 5-Year evaluation (2022-2027) with comparative department benchmarking across 10 branches.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Unit-Wise Media Canvas: In-browser image compression, unit tags (CSE Unit) &amp; interactive visitor lightbox galleries.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1:1 Grievance Box: Direct volunteer ticketing with formal NOT_SOLVED / SOLVED status resolution workflows.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11480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11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SPECIFICATIONS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880360" y="411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 &amp; Resilient Tech Stack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92640" y="411480"/>
            <a:ext cx="1783080" cy="594360"/>
          </a:xfrm>
          <a:prstGeom prst="roundRect">
            <a:avLst>
              <a:gd name="adj" fmla="val 18462"/>
            </a:avLst>
          </a:prstGeom>
          <a:solidFill>
            <a:srgbClr val="0F172A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41148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Portal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25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 • NSS ERP Platform • https://erp-tan-six.vercel.app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1: Client Experience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1874520"/>
            <a:ext cx="2377440" cy="594360"/>
          </a:xfrm>
          <a:prstGeom prst="roundRect">
            <a:avLst>
              <a:gd name="adj" fmla="val 15385"/>
            </a:avLst>
          </a:prstGeom>
          <a:solidFill>
            <a:srgbClr val="1A2640"/>
          </a:solidFill>
          <a:ln w="6350">
            <a:solidFill>
              <a:srgbClr val="2535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18745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14 App Router • React 18 • Tailwind CSS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85800" y="2606040"/>
            <a:ext cx="2377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Responsive Progressive Web App (PWA)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Tailored Dark/Light Mode Design System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Client-Side JPEG Image Compressor (0.8 quality)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HTML5 Mobile Camera QR Code Scanner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8328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00D2B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044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2: Edge Security &amp; Middleware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520440" y="1874520"/>
            <a:ext cx="2377440" cy="594360"/>
          </a:xfrm>
          <a:prstGeom prst="roundRect">
            <a:avLst>
              <a:gd name="adj" fmla="val 15385"/>
            </a:avLst>
          </a:prstGeom>
          <a:solidFill>
            <a:srgbClr val="1A2640"/>
          </a:solidFill>
          <a:ln w="6350">
            <a:solidFill>
              <a:srgbClr val="2535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0" y="18745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Edge Runtime • Next.js Middleware Gate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520440" y="2606040"/>
            <a:ext cx="2377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HTTPOnly SameSite Signed JWT Session Cookies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Google OAuth 2.0 (PKCE) Social Login Integration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IP-based API Rate-Limiting Protection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Strict Role-Based Edge Route Redirections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1792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3: Backend &amp; Database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55080" y="1874520"/>
            <a:ext cx="2377440" cy="594360"/>
          </a:xfrm>
          <a:prstGeom prst="roundRect">
            <a:avLst>
              <a:gd name="adj" fmla="val 15385"/>
            </a:avLst>
          </a:prstGeom>
          <a:solidFill>
            <a:srgbClr val="1A2640"/>
          </a:solidFill>
          <a:ln w="6350">
            <a:solidFill>
              <a:srgbClr val="2535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18745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Prisma ORM v5.22 • Supabase PostgreSQL Cloud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355080" y="2606040"/>
            <a:ext cx="2377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18 Strongly-Typed Relational Models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Transaction Connection Pooling for High Concurrency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Supabase Realtime Websockets for 1:1 Chat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Automated Database Migrations &amp; Validation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05256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C084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8972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4: Deployment &amp; CDN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189720" y="1874520"/>
            <a:ext cx="2377440" cy="594360"/>
          </a:xfrm>
          <a:prstGeom prst="roundRect">
            <a:avLst>
              <a:gd name="adj" fmla="val 15385"/>
            </a:avLst>
          </a:prstGeom>
          <a:solidFill>
            <a:srgbClr val="1A2640"/>
          </a:solidFill>
          <a:ln w="6350">
            <a:solidFill>
              <a:srgbClr val="2535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35440" y="18745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Serverless Network • Global Edge CDN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189720" y="2606040"/>
            <a:ext cx="2377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Automated GitHub CI/CD Pipeline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Self-Destructing Service Worker Cache Purge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Sub-second API Execution Times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High-Availability Production Uptime (99.9%)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11480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11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ACCOUNT QUOTAS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880360" y="411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Role-Based Access Control (RBAC) &amp; Governance Matrix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92640" y="411480"/>
            <a:ext cx="1783080" cy="594360"/>
          </a:xfrm>
          <a:prstGeom prst="roundRect">
            <a:avLst>
              <a:gd name="adj" fmla="val 18462"/>
            </a:avLst>
          </a:prstGeom>
          <a:solidFill>
            <a:srgbClr val="0F172A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41148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Portal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25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 • NSS ERP Platform • https://erp-tan-six.vercel.app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11091672" cy="1115568"/>
          </a:xfrm>
          <a:prstGeom prst="roundRect">
            <a:avLst>
              <a:gd name="adj" fmla="val 12295"/>
            </a:avLst>
          </a:prstGeom>
          <a:solidFill>
            <a:srgbClr val="131D3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34416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Admin (Master Authority)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1709928"/>
            <a:ext cx="1645920" cy="256032"/>
          </a:xfrm>
          <a:prstGeom prst="roundRect">
            <a:avLst>
              <a:gd name="adj" fmla="val 28571"/>
            </a:avLst>
          </a:prstGeom>
          <a:solidFill>
            <a:srgbClr val="0A1220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170992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</a:rPr>
              <a:t>Max 4 System-Wide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" y="20116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Institutional Administration &amp; Audit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023360" y="1344168"/>
            <a:ext cx="7406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Master User &amp; Role Approval/Rejection Gate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Full Academic Year Monitoring &amp; Multi-Year Trends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Master Financial Audit, Budgets &amp; Expense Authorization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Institution-wide Data Backup (JSON/CSV Dumps)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468880"/>
            <a:ext cx="11091672" cy="1115568"/>
          </a:xfrm>
          <a:prstGeom prst="roundRect">
            <a:avLst>
              <a:gd name="adj" fmla="val 12295"/>
            </a:avLst>
          </a:prstGeom>
          <a:solidFill>
            <a:srgbClr val="131D31"/>
          </a:solidFill>
          <a:ln w="12700">
            <a:solidFill>
              <a:srgbClr val="00D2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57860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Faculty Coordinator (Program Officer)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2944368"/>
            <a:ext cx="1645920" cy="256032"/>
          </a:xfrm>
          <a:prstGeom prst="roundRect">
            <a:avLst>
              <a:gd name="adj" fmla="val 28571"/>
            </a:avLst>
          </a:prstGeom>
          <a:solidFill>
            <a:srgbClr val="0A1220"/>
          </a:solidFill>
          <a:ln w="6350">
            <a:solidFill>
              <a:srgbClr val="00D2B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94436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D2B4"/>
                </a:solidFill>
              </a:rPr>
              <a:t>Max 15 System-Wide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3246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Departmental Branch Oversight (CSE, ECE, etc.)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023360" y="2578608"/>
            <a:ext cx="7406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Branch-Scoped Volunteer Monitoring &amp; Hours Audit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Unit Event Campaign Creation &amp; Drive Photo Uploads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Departmental Financial Ledger Entries &amp; Receipts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Approval of Student Registrations for Branch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11091672" cy="1115568"/>
          </a:xfrm>
          <a:prstGeom prst="roundRect">
            <a:avLst>
              <a:gd name="adj" fmla="val 12295"/>
            </a:avLst>
          </a:prstGeom>
          <a:solidFill>
            <a:srgbClr val="131D3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81304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 Coordinator (Branch Lead)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178808"/>
            <a:ext cx="1645920" cy="256032"/>
          </a:xfrm>
          <a:prstGeom prst="roundRect">
            <a:avLst>
              <a:gd name="adj" fmla="val 28571"/>
            </a:avLst>
          </a:prstGeom>
          <a:solidFill>
            <a:srgbClr val="0A1220"/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17880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Max 20 System-Wide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" y="44805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Branch Volunteer Leadership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023360" y="3813048"/>
            <a:ext cx="7406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Custom Forms Builder (Create, Publish, Close)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Volunteer Response Review &amp; Status Approvals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Dynamic QR Code Attendance Generation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Allotting Gamified Performance Points &amp; Badges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11091672" cy="1115568"/>
          </a:xfrm>
          <a:prstGeom prst="roundRect">
            <a:avLst>
              <a:gd name="adj" fmla="val 12295"/>
            </a:avLst>
          </a:prstGeom>
          <a:solidFill>
            <a:srgbClr val="131D31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04748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 Volunteer (Enrolled Member)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1520" y="5413248"/>
            <a:ext cx="1645920" cy="256032"/>
          </a:xfrm>
          <a:prstGeom prst="roundRect">
            <a:avLst>
              <a:gd name="adj" fmla="val 28571"/>
            </a:avLst>
          </a:prstGeom>
          <a:solidFill>
            <a:srgbClr val="0A1220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41324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BBF24"/>
                </a:solidFill>
              </a:rPr>
              <a:t>Unlimited Self-Registration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5715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 Volunteer Participation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023360" y="5047488"/>
            <a:ext cx="7406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Browse Campaign Feed &amp; 1-Click Event Registration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Anti-Proxy Mobile Camera Attendance Scanning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Government myBharat ID &amp; Certificate Linking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1:1 Confidential Grievance Redressal Submissions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11480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11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INSTITUTIONAL METRICS &amp; NAAC AUDITS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880360" y="411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Flagship 1: Academic Year Monitoring Engine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92640" y="411480"/>
            <a:ext cx="1783080" cy="594360"/>
          </a:xfrm>
          <a:prstGeom prst="roundRect">
            <a:avLst>
              <a:gd name="adj" fmla="val 18462"/>
            </a:avLst>
          </a:prstGeom>
          <a:solidFill>
            <a:srgbClr val="0F172A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41148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Portal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25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 • NSS ERP Platform • https://erp-tan-six.vercel.app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31D31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325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Active Enrolled Volunteers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85800" y="1600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1,200+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85800" y="2240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</a:rPr>
              <a:t>Across 10 Engineering Branches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83280" y="123444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31D31"/>
          </a:solidFill>
          <a:ln w="15875">
            <a:solidFill>
              <a:srgbClr val="00D2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1325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Verified Service Hours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0440" y="1600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15,000+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520440" y="2240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</a:rPr>
              <a:t>Avg 12.5 hrs / volunteer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17920" y="123444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31D31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325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Campaigns &amp; Drives Executed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55080" y="1600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45+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355080" y="2240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</a:rPr>
              <a:t>Medical, Blood, Rallies &amp; Drives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52560" y="123444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31D31"/>
          </a:solidFill>
          <a:ln w="15875">
            <a:solidFill>
              <a:srgbClr val="C08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325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Student Unit Coordinators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189720" y="1600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8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189720" y="2240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</a:rPr>
              <a:t>Elected Branch Student Leads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2834640"/>
            <a:ext cx="11091672" cy="3383280"/>
          </a:xfrm>
          <a:prstGeom prst="roundRect">
            <a:avLst>
              <a:gd name="adj" fmla="val 5405"/>
            </a:avLst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0175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Capabilities of the Academic Year Monitoring Engine (/admin/monitoring &amp; /faculty/monitoring):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" y="3383280"/>
            <a:ext cx="10515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Interactive Academic Year Selector: Switch instantaneously between AY 2026-2027, 2025-2026, 2024-2025, 2023-2024, and 2022-2023.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Department Performance Matrix: Live comparative leaderboard benchmarking student enrollment, events, and hours across all 10 branches (CSE, ECE, EEE, MECH, CIVIL, IT, CSM, CSD, AID, CIC).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5-Year Growth Progression Visualizer: Historical comparison bars tracking volunteer engagement curves across multi-year cycles.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Academic Year Top Volunteers Leaderboard: Recognizes highest point earners and service hour contributors for each academic session.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1-Click Institutional Compliance Export (CSV): Download the complete annual institutional audit report formatted for NAAC accreditation.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11480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11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FISCAL ACCOUNTABILITY &amp; BUDGETS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880360" y="411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Flagship 2: Year-Wise Financial Reports &amp; Audit Ledger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92640" y="411480"/>
            <a:ext cx="1783080" cy="594360"/>
          </a:xfrm>
          <a:prstGeom prst="roundRect">
            <a:avLst>
              <a:gd name="adj" fmla="val 18462"/>
            </a:avLst>
          </a:prstGeom>
          <a:solidFill>
            <a:srgbClr val="0F172A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41148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Portal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25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 • NSS ERP Platform • https://erp-tan-six.vercel.app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31D31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325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Allocated Budget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85800" y="1600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₹1,50,000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85800" y="2240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</a:rPr>
              <a:t>Annual Institutional Grant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83280" y="123444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31D31"/>
          </a:solidFill>
          <a:ln w="15875">
            <a:solidFill>
              <a:srgbClr val="F8717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1325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Total Incurred Expenses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0440" y="1600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₹95,400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520440" y="2240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</a:rPr>
              <a:t>63.6% Budget Utilization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17920" y="123444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31D31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325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Sponsorships &amp; Donations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55080" y="1600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₹40,000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55080" y="2240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</a:rPr>
              <a:t>External Partner Funding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52560" y="123444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31D31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325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Net Available Balance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189720" y="1600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₹94,600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189720" y="2240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</a:rPr>
              <a:t>Available for Future Drives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2834640"/>
            <a:ext cx="5394960" cy="3383280"/>
          </a:xfrm>
          <a:prstGeom prst="roundRect">
            <a:avLst>
              <a:gd name="adj" fmla="val 5405"/>
            </a:avLst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Expense Category Breakdown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77240" y="338328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Event Logistics &amp; Venue Setup: ₹32,000 (34%)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Refreshments &amp; Volunteer Food: ₹24,500 (26%)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Medical &amp; First Aid Camp Supplies: ₹18,200 (19%)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Transportation &amp; Volunteer Bus Fuel: ₹12,000 (12%)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Printing, Banners &amp; Certificate Mementos: ₹8,700 (9%)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2834640"/>
            <a:ext cx="5394960" cy="3383280"/>
          </a:xfrm>
          <a:prstGeom prst="roundRect">
            <a:avLst>
              <a:gd name="adj" fmla="val 5405"/>
            </a:avLst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📑 Fiscal Auditing &amp; Compliance Engine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46520" y="338328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Budget Utilization Meter: Real-time progress bars prevent over-expenditures and ensure transparent allocation.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Multi-Year Audit Comparisons: Compare annual spending across 5 academic years in a single view.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Digital Receipt Storage: Attach and preview verified invoice URLs directly within each transaction entry.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1-Click Financial Audit CSV: Download itemized spreadsheets formatted for college management and auditors.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11480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11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CAMPAIGN MANAGEMENT &amp; GALLERIES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880360" y="411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Flagship 3: Unit-Wise Event Operations &amp; Media Hub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92640" y="411480"/>
            <a:ext cx="1783080" cy="594360"/>
          </a:xfrm>
          <a:prstGeom prst="roundRect">
            <a:avLst>
              <a:gd name="adj" fmla="val 18462"/>
            </a:avLst>
          </a:prstGeom>
          <a:solidFill>
            <a:srgbClr val="0F172A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41148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Portal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25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 • NSS ERP Platform • https://erp-tan-six.vercel.app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5394960" cy="2423160"/>
          </a:xfrm>
          <a:prstGeom prst="roundRect">
            <a:avLst>
              <a:gd name="adj" fmla="val 7547"/>
            </a:avLst>
          </a:prstGeom>
          <a:solidFill>
            <a:srgbClr val="131D31"/>
          </a:solidFill>
          <a:ln w="15875">
            <a:solidFill>
              <a:srgbClr val="00D2B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399032"/>
            <a:ext cx="2011680" cy="237744"/>
          </a:xfrm>
          <a:prstGeom prst="roundRect">
            <a:avLst>
              <a:gd name="adj" fmla="val 30769"/>
            </a:avLst>
          </a:prstGeom>
          <a:solidFill>
            <a:srgbClr val="0A1220"/>
          </a:solidFill>
          <a:ln w="6350">
            <a:solidFill>
              <a:srgbClr val="00D2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399032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D2B4"/>
                </a:solidFill>
              </a:rPr>
              <a:t>DEPARTMENTAL ISOLATION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31520" y="170992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Scoping &amp; Tagging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2103120"/>
            <a:ext cx="50292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Faculty Coordinators post drives tagged under their departmental branch (e.g. CSE Unit, ECE Unit). Volunteers can filter events by their own unit or browse all college drives.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234440"/>
            <a:ext cx="5394960" cy="2423160"/>
          </a:xfrm>
          <a:prstGeom prst="roundRect">
            <a:avLst>
              <a:gd name="adj" fmla="val 7547"/>
            </a:avLst>
          </a:prstGeom>
          <a:solidFill>
            <a:srgbClr val="131D31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399032"/>
            <a:ext cx="2011680" cy="237744"/>
          </a:xfrm>
          <a:prstGeom prst="roundRect">
            <a:avLst>
              <a:gd name="adj" fmla="val 30769"/>
            </a:avLst>
          </a:prstGeom>
          <a:solidFill>
            <a:srgbClr val="0A1220"/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1399032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8BDF8"/>
                </a:solidFill>
              </a:rPr>
              <a:t>OPTIMIZED UPLOADS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400800" y="170992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In-Browser Image Compressor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103120"/>
            <a:ext cx="50292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High-resolution camera photos are compressed client-side (JPEG 0.8 quality, 1024px max) before uploading, preventing slow uploads and serverless timeout errors.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5394960" cy="2423160"/>
          </a:xfrm>
          <a:prstGeom prst="roundRect">
            <a:avLst>
              <a:gd name="adj" fmla="val 7547"/>
            </a:avLst>
          </a:prstGeom>
          <a:solidFill>
            <a:srgbClr val="131D31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959352"/>
            <a:ext cx="2011680" cy="237744"/>
          </a:xfrm>
          <a:prstGeom prst="roundRect">
            <a:avLst>
              <a:gd name="adj" fmla="val 30769"/>
            </a:avLst>
          </a:prstGeom>
          <a:solidFill>
            <a:srgbClr val="0A1220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959352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BBF24"/>
                </a:solidFill>
              </a:rPr>
              <a:t>ALBUM GALLERIES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31520" y="42702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Photo Lightbox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4663440"/>
            <a:ext cx="50292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campaign features an interactive photo gallery with captions, uploader attribution, and full-screen lightbox viewing accessible to volunteers and coordinators.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3794760"/>
            <a:ext cx="5394960" cy="2423160"/>
          </a:xfrm>
          <a:prstGeom prst="roundRect">
            <a:avLst>
              <a:gd name="adj" fmla="val 7547"/>
            </a:avLst>
          </a:prstGeom>
          <a:solidFill>
            <a:srgbClr val="131D31"/>
          </a:solidFill>
          <a:ln w="15875">
            <a:solidFill>
              <a:srgbClr val="C084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3959352"/>
            <a:ext cx="2011680" cy="237744"/>
          </a:xfrm>
          <a:prstGeom prst="roundRect">
            <a:avLst>
              <a:gd name="adj" fmla="val 30769"/>
            </a:avLst>
          </a:prstGeom>
          <a:solidFill>
            <a:srgbClr val="0A1220"/>
          </a:solidFill>
          <a:ln w="6350">
            <a:solidFill>
              <a:srgbClr val="C084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3959352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084FC"/>
                </a:solidFill>
              </a:rPr>
              <a:t>CAMPUS TRANSPARENCY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00800" y="42702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Visitor Feed Integration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4663440"/>
            <a:ext cx="50292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Photos uploaded by unit faculty coordinators automatically feed into the public visitor directory with branch badges, showcasing social impact to parents and guests.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11480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11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PHYSICAL PARTICIPATION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880360" y="411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Flagship 4: Anti-Proxy QR Attendance Gate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92640" y="411480"/>
            <a:ext cx="1783080" cy="594360"/>
          </a:xfrm>
          <a:prstGeom prst="roundRect">
            <a:avLst>
              <a:gd name="adj" fmla="val 18462"/>
            </a:avLst>
          </a:prstGeom>
          <a:solidFill>
            <a:srgbClr val="0F172A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41148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Portal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25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 • NSS ERP Platform • https://erp-tan-six.vercel.app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417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A122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1031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1: Dynamic QR Projection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743200"/>
            <a:ext cx="23774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Faculty Coordinator opens /faculty/events and projects a live, time-sensitive dynamic QR code on the auditorium screen during the active event drive.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8328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00D2B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0440" y="1417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A1220"/>
          </a:solidFill>
          <a:ln w="12700">
            <a:solidFill>
              <a:srgbClr val="00D2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044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2B4"/>
                </a:solidFill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21031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2: Mobile Camera Scan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2743200"/>
            <a:ext cx="23774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Enrolled student volunteers open /student/events on their mobile smartphones and scan the live QR code using the built-in HTML5 camera scanner.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1417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A122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BF24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55080" y="21031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3: Anti-Proxy Validation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55080" y="2743200"/>
            <a:ext cx="23774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edge gate authenticates active registration, verifies single-scan validity, prevents duplicate logins, and eliminates screenshot forwarding fraud.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5256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89720" y="1417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A122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8972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89720" y="21031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4: Automated Credit (+3 hrs)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189720" y="2743200"/>
            <a:ext cx="23774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system instantly records verified physical presence and credits +3 verified community service hours directly to the student portfolio transcript.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11480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11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SURVEYS, REGISTRATIONS &amp; ANALYTICS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880360" y="411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Flagship 5: Dynamic Custom Form Builder &amp; Submissions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92640" y="411480"/>
            <a:ext cx="1783080" cy="594360"/>
          </a:xfrm>
          <a:prstGeom prst="roundRect">
            <a:avLst>
              <a:gd name="adj" fmla="val 18462"/>
            </a:avLst>
          </a:prstGeom>
          <a:solidFill>
            <a:srgbClr val="0F172A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41148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Portal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25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 • NSS ERP Platform • https://erp-tan-six.vercel.app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173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18+ Input Field Types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2011680"/>
            <a:ext cx="2377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Short text &amp; multi-line paragraphs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Single-select dropdowns &amp; radio groups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Multi-select checkboxes &amp; tag groups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Rating scales &amp; linear 1-10 matrices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Yes/No toggles &amp; file attachments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8328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00D2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14173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Publishing Lifecycle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20440" y="2011680"/>
            <a:ext cx="2377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DRAFT: In-progress form composition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PUBLISHED: Live for student submissions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CLOSED: Archived read-only state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Branch scoping: Target specific units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Submission quota controls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1792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4173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Multi-Stage Review Workflow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55080" y="2011680"/>
            <a:ext cx="2377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SUBMITTED: Initial volunteer entry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UNDER_REVIEW: Coordinator audit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APPROVED: Validated registration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REJECTED: Feedback note appended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Audit logs with reviewer names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52560" y="1234440"/>
            <a:ext cx="2651760" cy="4983480"/>
          </a:xfrm>
          <a:prstGeom prst="roundRect">
            <a:avLst>
              <a:gd name="adj" fmla="val 6897"/>
            </a:avLst>
          </a:prstGeom>
          <a:solidFill>
            <a:srgbClr val="131D31"/>
          </a:solidFill>
          <a:ln w="15875">
            <a:solidFill>
              <a:srgbClr val="C084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9720" y="14173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8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Analytics &amp; Excel Export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89720" y="2011680"/>
            <a:ext cx="2377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Real-time submission counters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Categorical response distribution charts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1-Click .xlsx Excel matrix export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CSV export for external tools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Instant search by roll number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11480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11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CAMPUS TRANSPARENCY &amp; DESK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880360" y="411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Flagship 6: Faculty Leadership Showcase &amp; Public Directory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92640" y="411480"/>
            <a:ext cx="1783080" cy="594360"/>
          </a:xfrm>
          <a:prstGeom prst="roundRect">
            <a:avLst>
              <a:gd name="adj" fmla="val 18462"/>
            </a:avLst>
          </a:prstGeom>
          <a:solidFill>
            <a:srgbClr val="0F172A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41148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Portal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25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 • NSS ERP Platform • https://erp-tan-six.vercel.app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3520440" cy="4983480"/>
          </a:xfrm>
          <a:prstGeom prst="roundRect">
            <a:avLst>
              <a:gd name="adj" fmla="val 5195"/>
            </a:avLst>
          </a:prstGeom>
          <a:solidFill>
            <a:srgbClr val="131D31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173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 Coordinator (PC) Spotlight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31520" y="2011680"/>
            <a:ext cx="315468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Institutional Vision: Highlights the Program Coordinator vision, message, and guidance.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Public Spotlight Card: Prominently featured on the main portal landing page.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Milestone Achievements: Highlights university awards, state recognitions, and major social drives.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Full Profile Visibility: Designation, official email, and contact channel.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1234440"/>
            <a:ext cx="3520440" cy="4983480"/>
          </a:xfrm>
          <a:prstGeom prst="roundRect">
            <a:avLst>
              <a:gd name="adj" fmla="val 5195"/>
            </a:avLst>
          </a:prstGeom>
          <a:solidFill>
            <a:srgbClr val="131D31"/>
          </a:solidFill>
          <a:ln w="15875">
            <a:solidFill>
              <a:srgbClr val="00D2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4173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 Officers (POs) Directory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26280" y="2011680"/>
            <a:ext cx="315468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All 10 Engineering Branches: Lists departmental faculty coordinators with unit badges.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Dynamic Admin Manager (/admin/faculty-desk): Real-time CRUD tool to update bios and photos.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Visibility Controls: 1-click toggle to show or hide faculty profiles.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Direct Volunteer Routing: Students can directly locate their departmental unit officer.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234440"/>
            <a:ext cx="3520440" cy="4983480"/>
          </a:xfrm>
          <a:prstGeom prst="roundRect">
            <a:avLst>
              <a:gd name="adj" fmla="val 5195"/>
            </a:avLst>
          </a:prstGeom>
          <a:solidFill>
            <a:srgbClr val="131D31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4173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Visitor Directory (/visitor)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21040" y="2011680"/>
            <a:ext cx="315468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Open Community Statistics: Live totals of active volunteers, drives executed, and service hours.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Verified Volunteer Roster: Public directory with achievement tiers (Bronze ➔ Platinum).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Activity Photo Feed: Real-time drive memories with departmental unit badges.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Strict Privacy Compliance: Mobile numbers and private emails are strictly shielded.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11480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11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VOLUNTEER MOTIVATION &amp; RECOGNITION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880360" y="411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Flagship 7: Gamified Portfolios &amp; Government myBharat Sync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92640" y="411480"/>
            <a:ext cx="1783080" cy="594360"/>
          </a:xfrm>
          <a:prstGeom prst="roundRect">
            <a:avLst>
              <a:gd name="adj" fmla="val 18462"/>
            </a:avLst>
          </a:prstGeom>
          <a:solidFill>
            <a:srgbClr val="0F172A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41148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Portal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25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 • NSS ERP Platform • https://erp-tan-six.vercel.app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2651760" cy="2194560"/>
          </a:xfrm>
          <a:prstGeom prst="roundRect">
            <a:avLst>
              <a:gd name="adj" fmla="val 6250"/>
            </a:avLst>
          </a:prstGeom>
          <a:solidFill>
            <a:srgbClr val="131D31"/>
          </a:solidFill>
          <a:ln w="15875">
            <a:solidFill>
              <a:srgbClr val="CD7F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D7F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🥉 Bronze Tier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8580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&lt; 50 Points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205740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</a:rPr>
              <a:t>Foundational entry-level participation in campus cleanliness &amp; plantation drives.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83280" y="1234440"/>
            <a:ext cx="2651760" cy="2194560"/>
          </a:xfrm>
          <a:prstGeom prst="roundRect">
            <a:avLst>
              <a:gd name="adj" fmla="val 6250"/>
            </a:avLst>
          </a:prstGeom>
          <a:solidFill>
            <a:srgbClr val="131D31"/>
          </a:solidFill>
          <a:ln w="15875">
            <a:solidFill>
              <a:srgbClr val="C0C0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C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🥈 Silver Tier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52044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50 – 149 Points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205740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</a:rPr>
              <a:t>Active volunteer contributing across multiple blood donation and awareness camps.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17920" y="1234440"/>
            <a:ext cx="2651760" cy="2194560"/>
          </a:xfrm>
          <a:prstGeom prst="roundRect">
            <a:avLst>
              <a:gd name="adj" fmla="val 6250"/>
            </a:avLst>
          </a:prstGeom>
          <a:solidFill>
            <a:srgbClr val="131D31"/>
          </a:solidFill>
          <a:ln w="15875">
            <a:solidFill>
              <a:srgbClr val="FFD7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7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🥇 Gold Tier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35508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150 – 299 Points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205740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</a:rPr>
              <a:t>Distinguished volunteer &amp; student coordinator driving departmental campaigns.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052560" y="1234440"/>
            <a:ext cx="2651760" cy="2194560"/>
          </a:xfrm>
          <a:prstGeom prst="roundRect">
            <a:avLst>
              <a:gd name="adj" fmla="val 6250"/>
            </a:avLst>
          </a:prstGeom>
          <a:solidFill>
            <a:srgbClr val="131D31"/>
          </a:solidFill>
          <a:ln w="15875">
            <a:solidFill>
              <a:srgbClr val="00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💎 Platinum Tier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18972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300+ Points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89720" y="205740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</a:rPr>
              <a:t>Exceptional institutional social impact awardee with outstanding service leadership.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611880"/>
            <a:ext cx="11091672" cy="2606040"/>
          </a:xfrm>
          <a:prstGeom prst="roundRect">
            <a:avLst>
              <a:gd name="adj" fmla="val 7018"/>
            </a:avLst>
          </a:prstGeom>
          <a:solidFill>
            <a:srgbClr val="131D31"/>
          </a:solidFill>
          <a:ln w="12700">
            <a:solidFill>
              <a:srgbClr val="00D2B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794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🏛️ Official Government myBharat Portal Integration &amp; Service Transcripts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22960" y="420624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myBharat National ID Sync: Student volunteers link their official Ministry of Youth Affairs myBharat volunteer IDs directly in /student/profile.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Verified Certificate Repository: Cloud storage and URL verification for state and national level NSS camp participation certificates.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Printable Institutional Service Transcript (/student/portfolio): Generates clean, printable transcripts summarizing total verified service hours, completed campaigns, and achievement badges for job and higher-education applications.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solidFill>
            <a:srgbClr val="131D31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11480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9525">
            <a:solidFill>
              <a:srgbClr val="00D2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11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PRESENTATION GUIDE &amp; CREDENTIALS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880360" y="411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Demonstration Walkthrough &amp; Test Accounts Roster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92640" y="411480"/>
            <a:ext cx="1783080" cy="594360"/>
          </a:xfrm>
          <a:prstGeom prst="roundRect">
            <a:avLst>
              <a:gd name="adj" fmla="val 18462"/>
            </a:avLst>
          </a:prstGeom>
          <a:solidFill>
            <a:srgbClr val="0F172A"/>
          </a:solidFill>
          <a:ln w="12700">
            <a:solidFill>
              <a:srgbClr val="253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41148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VVITU NSS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Portal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25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Vasireddy Venkatadri Institute of Technology (Autonomous) • NSS ERP Platform • https://erp-tan-six.vercel.app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5394960" cy="4983480"/>
          </a:xfrm>
          <a:prstGeom prst="roundRect">
            <a:avLst>
              <a:gd name="adj" fmla="val 3670"/>
            </a:avLst>
          </a:prstGeom>
          <a:solidFill>
            <a:srgbClr val="131D31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4173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🎬 10-Minute Live Presentation Script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182880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Public Visitor Portal (/visitor): Show home page leadership spotlight, activity photo stream &amp; department directory.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Admin AY Monitoring (/admin/monitoring): Switch academic years, show 10-branch matrix &amp; export institutional CSV.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Financial Audit Ledger (/admin/finance): Demonstrate budget vs spend meters, category breakdowns &amp; proof receipts.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Faculty Coordinator (/faculty/events): Show unit event updates, in-browser photo compressor &amp; attendance viewer.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Student Volunteer View (/student/events): Demonstrate HTML5 mobile camera QR attendance scanning &amp; portfolio.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234440"/>
            <a:ext cx="5394960" cy="4983480"/>
          </a:xfrm>
          <a:prstGeom prst="roundRect">
            <a:avLst>
              <a:gd name="adj" fmla="val 3670"/>
            </a:avLst>
          </a:prstGeom>
          <a:solidFill>
            <a:srgbClr val="131D31"/>
          </a:solidFill>
          <a:ln w="15875">
            <a:solidFill>
              <a:srgbClr val="00D2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4173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🔑 Pre-Configured Demo Accounts Roster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182880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System Admin 1: admin1@erp.com / Admin@12345 (Master Authority)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System Admin 2: admin2@erp.com / Admin@12345 (Operations &amp; Finance)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Faculty Coordinator (CSE): faculty.cse@erp.com / Faculty@12345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Faculty Coordinator (ECE): faculty.ece@erp.com / Faculty@12345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Student Coordinator: lead.cse1@erp.com / Student@12345 (CSE Lead)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Student Volunteer: student.cse1@erp.com / Student@12345 (Volunteer)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Production URL: https://erp-tan-six.vercel.app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Vasireddy Venkatadri Institute of Technology (Autonomous)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VVITU NSS ERP — Institutional Resource Planning &amp; Monitoring Portal</dc:title>
  <dc:subject>PptxGenJS Presentation</dc:subject>
  <dc:creator>Bhuvana Mohan Chowdary</dc:creator>
  <cp:lastModifiedBy>Bhuvana Mohan Chowdary</cp:lastModifiedBy>
  <cp:revision>1</cp:revision>
  <dcterms:created xsi:type="dcterms:W3CDTF">2026-09-01T07:50:45Z</dcterms:created>
  <dcterms:modified xsi:type="dcterms:W3CDTF">2026-09-01T07:50:45Z</dcterms:modified>
</cp:coreProperties>
</file>