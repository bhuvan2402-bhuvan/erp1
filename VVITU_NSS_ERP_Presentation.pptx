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4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6291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A511A6DC-0FBF-2F00-5ECC-F81EFA5D578B}"/>
              </a:ext>
            </a:extLst>
          </p:cNvPr>
          <p:cNvGrpSpPr/>
          <p:nvPr/>
        </p:nvGrpSpPr>
        <p:grpSpPr>
          <a:xfrm>
            <a:off x="0" y="0"/>
            <a:ext cx="9144000" cy="5143500"/>
            <a:chOff x="548640" y="548640"/>
            <a:chExt cx="11091672" cy="5760720"/>
          </a:xfrm>
        </p:grpSpPr>
        <p:sp>
          <p:nvSpPr>
            <p:cNvPr id="2" name="Shape 0"/>
            <p:cNvSpPr/>
            <p:nvPr/>
          </p:nvSpPr>
          <p:spPr>
            <a:xfrm>
              <a:off x="548640" y="548640"/>
              <a:ext cx="11091672" cy="5760720"/>
            </a:xfrm>
            <a:prstGeom prst="roundRect">
              <a:avLst>
                <a:gd name="adj" fmla="val 4762"/>
              </a:avLst>
            </a:prstGeom>
            <a:solidFill>
              <a:srgbClr val="131D31"/>
            </a:solidFill>
            <a:ln w="19050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" name="Text 1"/>
            <p:cNvSpPr/>
            <p:nvPr/>
          </p:nvSpPr>
          <p:spPr>
            <a:xfrm>
              <a:off x="914400" y="868680"/>
              <a:ext cx="103327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VASIREDDY VENKATADRI INSTITUTE OF TECHNOLOGY (AUTONOMOUS)</a:t>
              </a:r>
              <a:endParaRPr lang="en-US" sz="11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914400" y="1234440"/>
              <a:ext cx="10332720" cy="8229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38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VVITU NSS ERP</a:t>
              </a:r>
              <a:endParaRPr lang="en-US" sz="3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914400" y="2103120"/>
              <a:ext cx="1033272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Centralized Institutional Resource Planning, Anti-Proxy Attendance &amp; Activity Auditing Portal</a:t>
              </a:r>
              <a:endParaRPr lang="en-US" sz="14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914400" y="2468880"/>
              <a:ext cx="103327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Designed for University Accreditation (NAAC/NIRF), Real-Time Financial Audits &amp; Departmental Unit Operations</a:t>
              </a:r>
              <a:endParaRPr lang="en-US" sz="11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914400" y="2971800"/>
              <a:ext cx="2468880" cy="2194560"/>
            </a:xfrm>
            <a:prstGeom prst="roundRect">
              <a:avLst>
                <a:gd name="adj" fmla="val 6250"/>
              </a:avLst>
            </a:prstGeom>
            <a:solidFill>
              <a:srgbClr val="1A2640"/>
            </a:solidFill>
            <a:ln w="12700">
              <a:solidFill>
                <a:srgbClr val="38BDF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8" name="Shape 6"/>
            <p:cNvSpPr/>
            <p:nvPr/>
          </p:nvSpPr>
          <p:spPr>
            <a:xfrm>
              <a:off x="1051560" y="3108960"/>
              <a:ext cx="1188720" cy="256032"/>
            </a:xfrm>
            <a:prstGeom prst="roundRect">
              <a:avLst>
                <a:gd name="adj" fmla="val 35714"/>
              </a:avLst>
            </a:prstGeom>
            <a:solidFill>
              <a:srgbClr val="0A1220"/>
            </a:solidFill>
            <a:ln w="6350">
              <a:solidFill>
                <a:srgbClr val="38BDF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 7"/>
            <p:cNvSpPr/>
            <p:nvPr/>
          </p:nvSpPr>
          <p:spPr>
            <a:xfrm>
              <a:off x="1051560" y="3108960"/>
              <a:ext cx="118872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5-Year Trends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051560" y="3474720"/>
              <a:ext cx="219456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AY Monitoring Engine</a:t>
              </a:r>
              <a:endParaRPr lang="en-US" sz="13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1051560" y="4023360"/>
              <a:ext cx="2194560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Multi-cycle analytics, YoY growth &amp; 1-click NAAC CSV export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520440" y="2971800"/>
              <a:ext cx="2468880" cy="2194560"/>
            </a:xfrm>
            <a:prstGeom prst="roundRect">
              <a:avLst>
                <a:gd name="adj" fmla="val 6250"/>
              </a:avLst>
            </a:prstGeom>
            <a:solidFill>
              <a:srgbClr val="1A2640"/>
            </a:solidFill>
            <a:ln w="12700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Shape 11"/>
            <p:cNvSpPr/>
            <p:nvPr/>
          </p:nvSpPr>
          <p:spPr>
            <a:xfrm>
              <a:off x="3657600" y="3108960"/>
              <a:ext cx="1188720" cy="256032"/>
            </a:xfrm>
            <a:prstGeom prst="roundRect">
              <a:avLst>
                <a:gd name="adj" fmla="val 35714"/>
              </a:avLst>
            </a:prstGeom>
            <a:solidFill>
              <a:srgbClr val="0A1220"/>
            </a:solidFill>
            <a:ln w="6350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Text 12"/>
            <p:cNvSpPr/>
            <p:nvPr/>
          </p:nvSpPr>
          <p:spPr>
            <a:xfrm>
              <a:off x="3657600" y="3108960"/>
              <a:ext cx="118872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Real-Time ₹</a:t>
              </a:r>
              <a:endParaRPr lang="en-US" sz="85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657600" y="3474720"/>
              <a:ext cx="219456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Financial Audit &amp; Ledger</a:t>
              </a:r>
              <a:endParaRPr lang="en-US" sz="13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57600" y="4023360"/>
              <a:ext cx="2194560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Budgets, operational spend, receipts &amp; audit reports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26480" y="2971800"/>
              <a:ext cx="2468880" cy="2194560"/>
            </a:xfrm>
            <a:prstGeom prst="roundRect">
              <a:avLst>
                <a:gd name="adj" fmla="val 6250"/>
              </a:avLst>
            </a:prstGeom>
            <a:solidFill>
              <a:srgbClr val="1A2640"/>
            </a:solidFill>
            <a:ln w="12700">
              <a:solidFill>
                <a:srgbClr val="FBBF2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640" y="3108960"/>
              <a:ext cx="1188720" cy="256032"/>
            </a:xfrm>
            <a:prstGeom prst="roundRect">
              <a:avLst>
                <a:gd name="adj" fmla="val 35714"/>
              </a:avLst>
            </a:prstGeom>
            <a:solidFill>
              <a:srgbClr val="0A1220"/>
            </a:solidFill>
            <a:ln w="6350">
              <a:solidFill>
                <a:srgbClr val="FBBF2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Text 17"/>
            <p:cNvSpPr/>
            <p:nvPr/>
          </p:nvSpPr>
          <p:spPr>
            <a:xfrm>
              <a:off x="6263640" y="3108960"/>
              <a:ext cx="118872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FBBF2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Zero Proxy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63640" y="3474720"/>
              <a:ext cx="219456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Anti-Proxy QR Gate</a:t>
              </a:r>
              <a:endParaRPr lang="en-US" sz="13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263640" y="4023360"/>
              <a:ext cx="2194560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Dynamic camera scanning &amp; +3 verified service hrs/camp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8732520" y="2971800"/>
              <a:ext cx="2468880" cy="2194560"/>
            </a:xfrm>
            <a:prstGeom prst="roundRect">
              <a:avLst>
                <a:gd name="adj" fmla="val 6250"/>
              </a:avLst>
            </a:prstGeom>
            <a:solidFill>
              <a:srgbClr val="1A2640"/>
            </a:solidFill>
            <a:ln w="12700">
              <a:solidFill>
                <a:srgbClr val="C084FC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Shape 21"/>
            <p:cNvSpPr/>
            <p:nvPr/>
          </p:nvSpPr>
          <p:spPr>
            <a:xfrm>
              <a:off x="8869680" y="3108960"/>
              <a:ext cx="1188720" cy="256032"/>
            </a:xfrm>
            <a:prstGeom prst="roundRect">
              <a:avLst>
                <a:gd name="adj" fmla="val 35714"/>
              </a:avLst>
            </a:prstGeom>
            <a:solidFill>
              <a:srgbClr val="0A1220"/>
            </a:solidFill>
            <a:ln w="6350">
              <a:solidFill>
                <a:srgbClr val="C084FC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4" name="Text 22"/>
            <p:cNvSpPr/>
            <p:nvPr/>
          </p:nvSpPr>
          <p:spPr>
            <a:xfrm>
              <a:off x="8869680" y="3108960"/>
              <a:ext cx="118872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C084F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 Branches</a:t>
              </a:r>
              <a:endParaRPr lang="en-US" sz="85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869680" y="3474720"/>
              <a:ext cx="219456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Unit-Wise Event Media</a:t>
              </a:r>
              <a:endParaRPr lang="en-US" sz="13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869680" y="4023360"/>
              <a:ext cx="2194560" cy="1005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Client-compressed drive photos &amp; public lightbox gallery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914400" y="5394960"/>
              <a:ext cx="10360152" cy="594360"/>
            </a:xfrm>
            <a:prstGeom prst="roundRect">
              <a:avLst>
                <a:gd name="adj" fmla="val 18462"/>
              </a:avLst>
            </a:prstGeom>
            <a:solidFill>
              <a:srgbClr val="0A1220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8" name="Text 26"/>
            <p:cNvSpPr/>
            <p:nvPr/>
          </p:nvSpPr>
          <p:spPr>
            <a:xfrm>
              <a:off x="1097280" y="5394960"/>
              <a:ext cx="996696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🌐 Production Portal: https://erp-tan-six.vercel.app   •   Next.js 14  |  Prisma ORM  |  Supabase PostgreSQL  |  Vercel Edge</a:t>
              </a:r>
              <a:endParaRPr lang="en-US" sz="105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E2C22703-5774-35DB-F271-107BE3287E64}"/>
              </a:ext>
            </a:extLst>
          </p:cNvPr>
          <p:cNvGrpSpPr/>
          <p:nvPr/>
        </p:nvGrpSpPr>
        <p:grpSpPr>
          <a:xfrm>
            <a:off x="0" y="81280"/>
            <a:ext cx="9144000" cy="5062220"/>
            <a:chOff x="548640" y="320040"/>
            <a:chExt cx="11091672" cy="6400800"/>
          </a:xfrm>
        </p:grpSpPr>
        <p:sp>
          <p:nvSpPr>
            <p:cNvPr id="2" name="Shape 0"/>
            <p:cNvSpPr/>
            <p:nvPr/>
          </p:nvSpPr>
          <p:spPr>
            <a:xfrm>
              <a:off x="548640" y="320040"/>
              <a:ext cx="11091672" cy="777240"/>
            </a:xfrm>
            <a:prstGeom prst="rect">
              <a:avLst/>
            </a:prstGeom>
            <a:solidFill>
              <a:srgbClr val="131D31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" name="Shape 1"/>
            <p:cNvSpPr/>
            <p:nvPr/>
          </p:nvSpPr>
          <p:spPr>
            <a:xfrm>
              <a:off x="731520" y="411480"/>
              <a:ext cx="2011680" cy="237744"/>
            </a:xfrm>
            <a:prstGeom prst="roundRect">
              <a:avLst>
                <a:gd name="adj" fmla="val 50000"/>
              </a:avLst>
            </a:prstGeom>
            <a:solidFill>
              <a:srgbClr val="064E3B"/>
            </a:solidFill>
            <a:ln w="952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 2"/>
            <p:cNvSpPr/>
            <p:nvPr/>
          </p:nvSpPr>
          <p:spPr>
            <a:xfrm>
              <a:off x="731520" y="411480"/>
              <a:ext cx="2011680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PROBLEM &amp; VALUE PROPOSITION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880360" y="411480"/>
              <a:ext cx="65836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The Operational Challenge vs The ERP Solution</a:t>
              </a:r>
              <a:endParaRPr lang="en-US" sz="17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9692640" y="411480"/>
              <a:ext cx="1783080" cy="594360"/>
            </a:xfrm>
            <a:prstGeom prst="roundRect">
              <a:avLst>
                <a:gd name="adj" fmla="val 18462"/>
              </a:avLst>
            </a:prstGeom>
            <a:solidFill>
              <a:srgbClr val="0F172A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 5"/>
            <p:cNvSpPr/>
            <p:nvPr/>
          </p:nvSpPr>
          <p:spPr>
            <a:xfrm>
              <a:off x="9692640" y="411480"/>
              <a:ext cx="17830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VVITU NSS ERP</a:t>
              </a:r>
              <a:endParaRPr lang="en-US" sz="850" dirty="0"/>
            </a:p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Auto Portal</a:t>
              </a:r>
              <a:endParaRPr lang="en-US" sz="8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548640" y="6400800"/>
              <a:ext cx="11091672" cy="0"/>
            </a:xfrm>
            <a:prstGeom prst="line">
              <a:avLst/>
            </a:prstGeom>
            <a:noFill/>
            <a:ln w="9525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 7"/>
            <p:cNvSpPr/>
            <p:nvPr/>
          </p:nvSpPr>
          <p:spPr>
            <a:xfrm>
              <a:off x="548640" y="6446520"/>
              <a:ext cx="1109167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Vasireddy Venkatadri Institute of Technology (Autonomous) • NSS ERP Platform • https://erp-tan-six.vercel.app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48640" y="1234440"/>
              <a:ext cx="5394960" cy="4983480"/>
            </a:xfrm>
            <a:prstGeom prst="roundRect">
              <a:avLst>
                <a:gd name="adj" fmla="val 3670"/>
              </a:avLst>
            </a:prstGeom>
            <a:solidFill>
              <a:srgbClr val="131D31"/>
            </a:solidFill>
            <a:ln w="19050">
              <a:solidFill>
                <a:srgbClr val="F87171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Shape 9"/>
            <p:cNvSpPr/>
            <p:nvPr/>
          </p:nvSpPr>
          <p:spPr>
            <a:xfrm>
              <a:off x="777240" y="1417320"/>
              <a:ext cx="4937760" cy="411480"/>
            </a:xfrm>
            <a:prstGeom prst="roundRect">
              <a:avLst>
                <a:gd name="adj" fmla="val 26667"/>
              </a:avLst>
            </a:prstGeom>
            <a:solidFill>
              <a:srgbClr val="450A0A"/>
            </a:solidFill>
            <a:ln w="9525">
              <a:solidFill>
                <a:srgbClr val="F87171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 10"/>
            <p:cNvSpPr/>
            <p:nvPr/>
          </p:nvSpPr>
          <p:spPr>
            <a:xfrm>
              <a:off x="777240" y="1417320"/>
              <a:ext cx="493776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8717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❌ Legacy Manual NSS Operations &amp; Risks</a:t>
              </a:r>
              <a:endParaRPr lang="en-US" sz="12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77240" y="1965960"/>
              <a:ext cx="4937760" cy="4023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Proxy Attendance Fraud: Paper sign-up sheets and shared QR screenshot forwarding lead to unverified volunteer hours.</a:t>
              </a:r>
              <a:endParaRPr lang="en-US" sz="1050" dirty="0"/>
            </a:p>
            <a:p>
              <a:pPr marL="0" indent="0">
                <a:lnSpc>
                  <a:spcPts val="1500"/>
                </a:lnSpc>
                <a:buNone/>
              </a:pPr>
              <a:endParaRPr lang="en-US" sz="1050" dirty="0"/>
            </a:p>
            <a:p>
              <a:pPr marL="0" indent="0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Zero Financial Accountability: Expenses and sponsorships tracked informally in WhatsApp groups without verified receipts.</a:t>
              </a:r>
              <a:endParaRPr lang="en-US" sz="1050" dirty="0"/>
            </a:p>
            <a:p>
              <a:pPr marL="0" indent="0">
                <a:lnSpc>
                  <a:spcPts val="1500"/>
                </a:lnSpc>
                <a:buNone/>
              </a:pPr>
              <a:endParaRPr lang="en-US" sz="1050" dirty="0"/>
            </a:p>
            <a:p>
              <a:pPr marL="0" indent="0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No Multi-Year Analytics: High administrative friction during NAAC/NIRF inspections due to missing historical trends.</a:t>
              </a:r>
              <a:endParaRPr lang="en-US" sz="1050" dirty="0"/>
            </a:p>
            <a:p>
              <a:pPr marL="0" indent="0">
                <a:lnSpc>
                  <a:spcPts val="1500"/>
                </a:lnSpc>
                <a:buNone/>
              </a:pPr>
              <a:endParaRPr lang="en-US" sz="1050" dirty="0"/>
            </a:p>
            <a:p>
              <a:pPr marL="0" indent="0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Fragmented Photo Archives: Event memories lost across personal phones without captions or department attribution.</a:t>
              </a:r>
              <a:endParaRPr lang="en-US" sz="1050" dirty="0"/>
            </a:p>
            <a:p>
              <a:pPr marL="0" indent="0">
                <a:lnSpc>
                  <a:spcPts val="1500"/>
                </a:lnSpc>
                <a:buNone/>
              </a:pPr>
              <a:endParaRPr lang="en-US" sz="1050" dirty="0"/>
            </a:p>
            <a:p>
              <a:pPr marL="0" indent="0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Unstructured Grievances: Volunteer complaints lost in chats without formal resolution status tracking.</a:t>
              </a:r>
              <a:endParaRPr lang="en-US" sz="10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217920" y="1234440"/>
              <a:ext cx="5394960" cy="4983480"/>
            </a:xfrm>
            <a:prstGeom prst="roundRect">
              <a:avLst>
                <a:gd name="adj" fmla="val 3670"/>
              </a:avLst>
            </a:prstGeom>
            <a:solidFill>
              <a:srgbClr val="131D31"/>
            </a:solidFill>
            <a:ln w="19050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Shape 13"/>
            <p:cNvSpPr/>
            <p:nvPr/>
          </p:nvSpPr>
          <p:spPr>
            <a:xfrm>
              <a:off x="6446520" y="1417320"/>
              <a:ext cx="4937760" cy="411480"/>
            </a:xfrm>
            <a:prstGeom prst="roundRect">
              <a:avLst>
                <a:gd name="adj" fmla="val 26667"/>
              </a:avLst>
            </a:prstGeom>
            <a:solidFill>
              <a:srgbClr val="064E3B"/>
            </a:solidFill>
            <a:ln w="952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 14"/>
            <p:cNvSpPr/>
            <p:nvPr/>
          </p:nvSpPr>
          <p:spPr>
            <a:xfrm>
              <a:off x="6446520" y="1417320"/>
              <a:ext cx="493776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✅ VVITU NSS ERP Automated Capabilities</a:t>
              </a:r>
              <a:endParaRPr lang="en-US" sz="12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446520" y="1965960"/>
              <a:ext cx="4937760" cy="4023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Dynamic QR Gate: Time-sensitive projected QR codes verified via mobile camera (+3 verified service hours credited).</a:t>
              </a:r>
              <a:endParaRPr lang="en-US" sz="1050" dirty="0"/>
            </a:p>
            <a:p>
              <a:pPr marL="0" indent="0">
                <a:lnSpc>
                  <a:spcPts val="1500"/>
                </a:lnSpc>
                <a:buNone/>
              </a:pPr>
              <a:endParaRPr lang="en-US" sz="1050" dirty="0"/>
            </a:p>
            <a:p>
              <a:pPr marL="0" indent="0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Centralized Audit Ledger: Budget utilization progress meters, itemized transaction ledgers &amp; 1-click audit CSV export.</a:t>
              </a:r>
              <a:endParaRPr lang="en-US" sz="1050" dirty="0"/>
            </a:p>
            <a:p>
              <a:pPr marL="0" indent="0">
                <a:lnSpc>
                  <a:spcPts val="1500"/>
                </a:lnSpc>
                <a:buNone/>
              </a:pPr>
              <a:endParaRPr lang="en-US" sz="1050" dirty="0"/>
            </a:p>
            <a:p>
              <a:pPr marL="0" indent="0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Academic Year Monitoring: 5-Year evaluation (2022-2027) with comparative department benchmarking across 10 branches.</a:t>
              </a:r>
              <a:endParaRPr lang="en-US" sz="1050" dirty="0"/>
            </a:p>
            <a:p>
              <a:pPr marL="0" indent="0">
                <a:lnSpc>
                  <a:spcPts val="1500"/>
                </a:lnSpc>
                <a:buNone/>
              </a:pPr>
              <a:endParaRPr lang="en-US" sz="1050" dirty="0"/>
            </a:p>
            <a:p>
              <a:pPr marL="0" indent="0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Unit-Wise Media Canvas: In-browser image compression, unit tags (CSE Unit) &amp; interactive visitor lightbox galleries.</a:t>
              </a:r>
              <a:endParaRPr lang="en-US" sz="1050" dirty="0"/>
            </a:p>
            <a:p>
              <a:pPr marL="0" indent="0">
                <a:lnSpc>
                  <a:spcPts val="1500"/>
                </a:lnSpc>
                <a:buNone/>
              </a:pPr>
              <a:endParaRPr lang="en-US" sz="1050" dirty="0"/>
            </a:p>
            <a:p>
              <a:pPr marL="0" indent="0">
                <a:lnSpc>
                  <a:spcPts val="15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1:1 Grievance Box: Direct volunteer ticketing with formal NOT_SOLVED / SOLVED status resolution workflows.</a:t>
              </a:r>
              <a:endParaRPr lang="en-US" sz="105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644A5089-A7DE-334E-1645-1C125144748A}"/>
              </a:ext>
            </a:extLst>
          </p:cNvPr>
          <p:cNvGrpSpPr/>
          <p:nvPr/>
        </p:nvGrpSpPr>
        <p:grpSpPr>
          <a:xfrm>
            <a:off x="0" y="45720"/>
            <a:ext cx="9144000" cy="5097780"/>
            <a:chOff x="548640" y="320040"/>
            <a:chExt cx="11155680" cy="6400800"/>
          </a:xfrm>
        </p:grpSpPr>
        <p:sp>
          <p:nvSpPr>
            <p:cNvPr id="2" name="Shape 0"/>
            <p:cNvSpPr/>
            <p:nvPr/>
          </p:nvSpPr>
          <p:spPr>
            <a:xfrm>
              <a:off x="548640" y="320040"/>
              <a:ext cx="11091672" cy="777240"/>
            </a:xfrm>
            <a:prstGeom prst="rect">
              <a:avLst/>
            </a:prstGeom>
            <a:solidFill>
              <a:srgbClr val="131D31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" name="Shape 1"/>
            <p:cNvSpPr/>
            <p:nvPr/>
          </p:nvSpPr>
          <p:spPr>
            <a:xfrm>
              <a:off x="731520" y="411480"/>
              <a:ext cx="2011680" cy="237744"/>
            </a:xfrm>
            <a:prstGeom prst="roundRect">
              <a:avLst>
                <a:gd name="adj" fmla="val 50000"/>
              </a:avLst>
            </a:prstGeom>
            <a:solidFill>
              <a:srgbClr val="064E3B"/>
            </a:solidFill>
            <a:ln w="952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 2"/>
            <p:cNvSpPr/>
            <p:nvPr/>
          </p:nvSpPr>
          <p:spPr>
            <a:xfrm>
              <a:off x="731520" y="411480"/>
              <a:ext cx="2011680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TECHNICAL SPECIFICATIONS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880360" y="411480"/>
              <a:ext cx="65836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System Architecture &amp; Resilient Tech Stack</a:t>
              </a:r>
              <a:endParaRPr lang="en-US" sz="17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9692640" y="411480"/>
              <a:ext cx="1783080" cy="594360"/>
            </a:xfrm>
            <a:prstGeom prst="roundRect">
              <a:avLst>
                <a:gd name="adj" fmla="val 18462"/>
              </a:avLst>
            </a:prstGeom>
            <a:solidFill>
              <a:srgbClr val="0F172A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 5"/>
            <p:cNvSpPr/>
            <p:nvPr/>
          </p:nvSpPr>
          <p:spPr>
            <a:xfrm>
              <a:off x="9692640" y="411480"/>
              <a:ext cx="17830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VVITU NSS ERP</a:t>
              </a:r>
              <a:endParaRPr lang="en-US" sz="850" dirty="0"/>
            </a:p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Auto Portal</a:t>
              </a:r>
              <a:endParaRPr lang="en-US" sz="8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548640" y="6400800"/>
              <a:ext cx="11091672" cy="0"/>
            </a:xfrm>
            <a:prstGeom prst="line">
              <a:avLst/>
            </a:prstGeom>
            <a:noFill/>
            <a:ln w="9525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 7"/>
            <p:cNvSpPr/>
            <p:nvPr/>
          </p:nvSpPr>
          <p:spPr>
            <a:xfrm>
              <a:off x="548640" y="6446520"/>
              <a:ext cx="1109167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Vasireddy Venkatadri Institute of Technology (Autonomous) • NSS ERP Platform • https://erp-tan-six.vercel.app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48640" y="1234440"/>
              <a:ext cx="2651760" cy="4983480"/>
            </a:xfrm>
            <a:prstGeom prst="roundRect">
              <a:avLst>
                <a:gd name="adj" fmla="val 6897"/>
              </a:avLst>
            </a:prstGeom>
            <a:solidFill>
              <a:srgbClr val="131D31"/>
            </a:solidFill>
            <a:ln w="15875">
              <a:solidFill>
                <a:srgbClr val="38BDF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 9"/>
            <p:cNvSpPr/>
            <p:nvPr/>
          </p:nvSpPr>
          <p:spPr>
            <a:xfrm>
              <a:off x="685800" y="1417320"/>
              <a:ext cx="237744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Layer 1: Client Experience</a:t>
              </a:r>
              <a:endParaRPr lang="en-US" sz="115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85800" y="1874520"/>
              <a:ext cx="2377440" cy="594360"/>
            </a:xfrm>
            <a:prstGeom prst="roundRect">
              <a:avLst>
                <a:gd name="adj" fmla="val 15385"/>
              </a:avLst>
            </a:prstGeom>
            <a:solidFill>
              <a:srgbClr val="1A2640"/>
            </a:solidFill>
            <a:ln w="635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Text 11"/>
            <p:cNvSpPr/>
            <p:nvPr/>
          </p:nvSpPr>
          <p:spPr>
            <a:xfrm>
              <a:off x="731520" y="1874520"/>
              <a:ext cx="228600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Next.js 14 App Router • React 18 • Tailwind CSS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85800" y="2606040"/>
              <a:ext cx="2377440" cy="34747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3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Responsive Progressive Web App (PWA)</a:t>
              </a: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Tailored Dark/Light Mode Design System</a:t>
              </a: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Client-Side JPEG Image Compressor (0.8 quality)</a:t>
              </a: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HTML5 Mobile Camera QR Code Scanner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383280" y="1234440"/>
              <a:ext cx="2651760" cy="4983480"/>
            </a:xfrm>
            <a:prstGeom prst="roundRect">
              <a:avLst>
                <a:gd name="adj" fmla="val 6897"/>
              </a:avLst>
            </a:prstGeom>
            <a:solidFill>
              <a:srgbClr val="131D31"/>
            </a:solidFill>
            <a:ln w="1587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 14"/>
            <p:cNvSpPr/>
            <p:nvPr/>
          </p:nvSpPr>
          <p:spPr>
            <a:xfrm>
              <a:off x="3520440" y="1417320"/>
              <a:ext cx="237744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Layer 2: Edge Security &amp; Middleware</a:t>
              </a:r>
              <a:endParaRPr lang="en-US" sz="11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520440" y="1874520"/>
              <a:ext cx="2377440" cy="594360"/>
            </a:xfrm>
            <a:prstGeom prst="roundRect">
              <a:avLst>
                <a:gd name="adj" fmla="val 15385"/>
              </a:avLst>
            </a:prstGeom>
            <a:solidFill>
              <a:srgbClr val="1A2640"/>
            </a:solidFill>
            <a:ln w="635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 16"/>
            <p:cNvSpPr/>
            <p:nvPr/>
          </p:nvSpPr>
          <p:spPr>
            <a:xfrm>
              <a:off x="3566160" y="1874520"/>
              <a:ext cx="228600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Vercel Edge Runtime • Next.js Middleware Gate</a:t>
              </a:r>
              <a:endParaRPr lang="en-US" sz="85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520440" y="2606040"/>
              <a:ext cx="2377440" cy="34747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3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HTTPOnly SameSite Signed JWT Session Cookies</a:t>
              </a: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Google OAuth 2.0 (PKCE) Social Login Integration</a:t>
              </a: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IP-based API Rate-Limiting Protection</a:t>
              </a: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Strict Role-Based Edge Route Redirections</a:t>
              </a:r>
              <a:endParaRPr lang="en-US" sz="95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17920" y="1234440"/>
              <a:ext cx="2651760" cy="4983480"/>
            </a:xfrm>
            <a:prstGeom prst="roundRect">
              <a:avLst>
                <a:gd name="adj" fmla="val 6897"/>
              </a:avLst>
            </a:prstGeom>
            <a:solidFill>
              <a:srgbClr val="131D31"/>
            </a:solidFill>
            <a:ln w="15875">
              <a:solidFill>
                <a:srgbClr val="FBBF2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Text 19"/>
            <p:cNvSpPr/>
            <p:nvPr/>
          </p:nvSpPr>
          <p:spPr>
            <a:xfrm>
              <a:off x="6355080" y="1417320"/>
              <a:ext cx="237744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FBBF2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Layer 3: Backend &amp; Database</a:t>
              </a:r>
              <a:endParaRPr lang="en-US" sz="115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355080" y="1874520"/>
              <a:ext cx="2377440" cy="594360"/>
            </a:xfrm>
            <a:prstGeom prst="roundRect">
              <a:avLst>
                <a:gd name="adj" fmla="val 15385"/>
              </a:avLst>
            </a:prstGeom>
            <a:solidFill>
              <a:srgbClr val="1A2640"/>
            </a:solidFill>
            <a:ln w="635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 21"/>
            <p:cNvSpPr/>
            <p:nvPr/>
          </p:nvSpPr>
          <p:spPr>
            <a:xfrm>
              <a:off x="6400800" y="1874520"/>
              <a:ext cx="228600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Prisma ORM v5.22 • Supabase PostgreSQL Cloud</a:t>
              </a:r>
              <a:endParaRPr lang="en-US" sz="8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355080" y="2606040"/>
              <a:ext cx="2377440" cy="34747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3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18 Strongly-Typed Relational Models</a:t>
              </a: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Transaction Connection Pooling for High Concurrency</a:t>
              </a: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Supabase Realtime Websockets for 1:1 Chat</a:t>
              </a: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Automated Database Migrations &amp; Validation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9052560" y="1234440"/>
              <a:ext cx="2651760" cy="4983480"/>
            </a:xfrm>
            <a:prstGeom prst="roundRect">
              <a:avLst>
                <a:gd name="adj" fmla="val 6897"/>
              </a:avLst>
            </a:prstGeom>
            <a:solidFill>
              <a:srgbClr val="131D31"/>
            </a:solidFill>
            <a:ln w="15875">
              <a:solidFill>
                <a:srgbClr val="C084FC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6" name="Text 24"/>
            <p:cNvSpPr/>
            <p:nvPr/>
          </p:nvSpPr>
          <p:spPr>
            <a:xfrm>
              <a:off x="9189720" y="1417320"/>
              <a:ext cx="237744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C084F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Layer 4: Deployment &amp; CDN</a:t>
              </a:r>
              <a:endParaRPr lang="en-US" sz="11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9189720" y="1874520"/>
              <a:ext cx="2377440" cy="594360"/>
            </a:xfrm>
            <a:prstGeom prst="roundRect">
              <a:avLst>
                <a:gd name="adj" fmla="val 15385"/>
              </a:avLst>
            </a:prstGeom>
            <a:solidFill>
              <a:srgbClr val="1A2640"/>
            </a:solidFill>
            <a:ln w="635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8" name="Text 26"/>
            <p:cNvSpPr/>
            <p:nvPr/>
          </p:nvSpPr>
          <p:spPr>
            <a:xfrm>
              <a:off x="9235440" y="1874520"/>
              <a:ext cx="228600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Vercel Serverless Network • Global Edge CDN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9189720" y="2606040"/>
              <a:ext cx="2377440" cy="34747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3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Automated GitHub CI/CD Pipeline</a:t>
              </a: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Self-Destructing Service Worker Cache Purge</a:t>
              </a: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Sub-second API Execution Times</a:t>
              </a: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3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High-Availability Production Uptime (99.9%)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E421F51-D17E-70DD-BD0A-C5E1F363DB11}"/>
              </a:ext>
            </a:extLst>
          </p:cNvPr>
          <p:cNvGrpSpPr/>
          <p:nvPr/>
        </p:nvGrpSpPr>
        <p:grpSpPr>
          <a:xfrm>
            <a:off x="0" y="10160"/>
            <a:ext cx="9144000" cy="5133340"/>
            <a:chOff x="548640" y="320040"/>
            <a:chExt cx="11091672" cy="6400800"/>
          </a:xfrm>
        </p:grpSpPr>
        <p:sp>
          <p:nvSpPr>
            <p:cNvPr id="2" name="Shape 0"/>
            <p:cNvSpPr/>
            <p:nvPr/>
          </p:nvSpPr>
          <p:spPr>
            <a:xfrm>
              <a:off x="548640" y="320040"/>
              <a:ext cx="11091672" cy="777240"/>
            </a:xfrm>
            <a:prstGeom prst="rect">
              <a:avLst/>
            </a:prstGeom>
            <a:solidFill>
              <a:srgbClr val="131D31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" name="Shape 1"/>
            <p:cNvSpPr/>
            <p:nvPr/>
          </p:nvSpPr>
          <p:spPr>
            <a:xfrm>
              <a:off x="731520" y="411480"/>
              <a:ext cx="2011680" cy="237744"/>
            </a:xfrm>
            <a:prstGeom prst="roundRect">
              <a:avLst>
                <a:gd name="adj" fmla="val 50000"/>
              </a:avLst>
            </a:prstGeom>
            <a:solidFill>
              <a:srgbClr val="064E3B"/>
            </a:solidFill>
            <a:ln w="952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 2"/>
            <p:cNvSpPr/>
            <p:nvPr/>
          </p:nvSpPr>
          <p:spPr>
            <a:xfrm>
              <a:off x="731520" y="411480"/>
              <a:ext cx="2011680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SECURITY &amp; ACCOUNT QUOTAS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880360" y="411480"/>
              <a:ext cx="65836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Role-Based Access Control (RBAC) &amp; Governance Matrix</a:t>
              </a:r>
              <a:endParaRPr lang="en-US" sz="17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9692640" y="411480"/>
              <a:ext cx="1783080" cy="594360"/>
            </a:xfrm>
            <a:prstGeom prst="roundRect">
              <a:avLst>
                <a:gd name="adj" fmla="val 18462"/>
              </a:avLst>
            </a:prstGeom>
            <a:solidFill>
              <a:srgbClr val="0F172A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 5"/>
            <p:cNvSpPr/>
            <p:nvPr/>
          </p:nvSpPr>
          <p:spPr>
            <a:xfrm>
              <a:off x="9692640" y="411480"/>
              <a:ext cx="17830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VVITU NSS ERP</a:t>
              </a:r>
              <a:endParaRPr lang="en-US" sz="850" dirty="0"/>
            </a:p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Auto Portal</a:t>
              </a:r>
              <a:endParaRPr lang="en-US" sz="8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548640" y="6400800"/>
              <a:ext cx="11091672" cy="0"/>
            </a:xfrm>
            <a:prstGeom prst="line">
              <a:avLst/>
            </a:prstGeom>
            <a:noFill/>
            <a:ln w="9525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 7"/>
            <p:cNvSpPr/>
            <p:nvPr/>
          </p:nvSpPr>
          <p:spPr>
            <a:xfrm>
              <a:off x="548640" y="6446520"/>
              <a:ext cx="1109167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Vasireddy Venkatadri Institute of Technology (Autonomous) • NSS ERP Platform • https://erp-tan-six.vercel.app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48640" y="1234440"/>
              <a:ext cx="11091672" cy="1115568"/>
            </a:xfrm>
            <a:prstGeom prst="roundRect">
              <a:avLst>
                <a:gd name="adj" fmla="val 12295"/>
              </a:avLst>
            </a:prstGeom>
            <a:solidFill>
              <a:srgbClr val="131D31"/>
            </a:solidFill>
            <a:ln w="12700">
              <a:solidFill>
                <a:srgbClr val="F87171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 9"/>
            <p:cNvSpPr/>
            <p:nvPr/>
          </p:nvSpPr>
          <p:spPr>
            <a:xfrm>
              <a:off x="731520" y="1344168"/>
              <a:ext cx="31089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8717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System Admin (Master Authority)</a:t>
              </a:r>
              <a:endParaRPr lang="en-US" sz="12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31520" y="1709928"/>
              <a:ext cx="1645920" cy="256032"/>
            </a:xfrm>
            <a:prstGeom prst="roundRect">
              <a:avLst>
                <a:gd name="adj" fmla="val 28571"/>
              </a:avLst>
            </a:prstGeom>
            <a:solidFill>
              <a:srgbClr val="0A1220"/>
            </a:solidFill>
            <a:ln w="6350">
              <a:solidFill>
                <a:srgbClr val="F87171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Text 11"/>
            <p:cNvSpPr/>
            <p:nvPr/>
          </p:nvSpPr>
          <p:spPr>
            <a:xfrm>
              <a:off x="731520" y="1709928"/>
              <a:ext cx="164592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F87171"/>
                  </a:solidFill>
                </a:rPr>
                <a:t>Max 4 System-Wide</a:t>
              </a:r>
              <a:endParaRPr lang="en-US" sz="8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31520" y="2011680"/>
              <a:ext cx="31089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Institutional Administration &amp; Audit</a:t>
              </a:r>
              <a:endParaRPr lang="en-US" sz="85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023360" y="1344168"/>
              <a:ext cx="7406640" cy="8961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Master User &amp; Role Approval/Rejection Gate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Full Academic Year Monitoring &amp; Multi-Year Trends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Master Financial Audit, Budgets &amp; Expense Authorization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Institution-wide Data Backup (JSON/CSV Dumps)</a:t>
              </a:r>
              <a:endParaRPr lang="en-US" sz="95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48640" y="2468880"/>
              <a:ext cx="11091672" cy="1115568"/>
            </a:xfrm>
            <a:prstGeom prst="roundRect">
              <a:avLst>
                <a:gd name="adj" fmla="val 12295"/>
              </a:avLst>
            </a:prstGeom>
            <a:solidFill>
              <a:srgbClr val="131D31"/>
            </a:solidFill>
            <a:ln w="12700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 15"/>
            <p:cNvSpPr/>
            <p:nvPr/>
          </p:nvSpPr>
          <p:spPr>
            <a:xfrm>
              <a:off x="731520" y="2578608"/>
              <a:ext cx="31089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Faculty Coordinator (Program Officer)</a:t>
              </a:r>
              <a:endParaRPr lang="en-US" sz="12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31520" y="2944368"/>
              <a:ext cx="1645920" cy="256032"/>
            </a:xfrm>
            <a:prstGeom prst="roundRect">
              <a:avLst>
                <a:gd name="adj" fmla="val 28571"/>
              </a:avLst>
            </a:prstGeom>
            <a:solidFill>
              <a:srgbClr val="0A1220"/>
            </a:solidFill>
            <a:ln w="6350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Text 17"/>
            <p:cNvSpPr/>
            <p:nvPr/>
          </p:nvSpPr>
          <p:spPr>
            <a:xfrm>
              <a:off x="731520" y="2944368"/>
              <a:ext cx="164592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00D2B4"/>
                  </a:solidFill>
                </a:rPr>
                <a:t>Max 15 System-Wide</a:t>
              </a:r>
              <a:endParaRPr lang="en-US" sz="8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31520" y="3246120"/>
              <a:ext cx="31089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Departmental Branch Oversight (CSE, ECE, etc.)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4023360" y="2578608"/>
              <a:ext cx="7406640" cy="8961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Branch-Scoped Volunteer Monitoring &amp; Hours Audit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Unit Event Campaign Creation &amp; Drive Photo Uploads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Departmental Financial Ledger Entries &amp; Receipts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Approval of Student Registrations for Branch</a:t>
              </a:r>
              <a:endParaRPr lang="en-US" sz="95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48640" y="3703320"/>
              <a:ext cx="11091672" cy="1115568"/>
            </a:xfrm>
            <a:prstGeom prst="roundRect">
              <a:avLst>
                <a:gd name="adj" fmla="val 12295"/>
              </a:avLst>
            </a:prstGeom>
            <a:solidFill>
              <a:srgbClr val="131D31"/>
            </a:solidFill>
            <a:ln w="12700">
              <a:solidFill>
                <a:srgbClr val="38BDF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 21"/>
            <p:cNvSpPr/>
            <p:nvPr/>
          </p:nvSpPr>
          <p:spPr>
            <a:xfrm>
              <a:off x="731520" y="3813048"/>
              <a:ext cx="31089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Student Coordinator (Branch Lead)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1520" y="4178808"/>
              <a:ext cx="1645920" cy="256032"/>
            </a:xfrm>
            <a:prstGeom prst="roundRect">
              <a:avLst>
                <a:gd name="adj" fmla="val 28571"/>
              </a:avLst>
            </a:prstGeom>
            <a:solidFill>
              <a:srgbClr val="0A1220"/>
            </a:solidFill>
            <a:ln w="6350">
              <a:solidFill>
                <a:srgbClr val="38BDF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5" name="Text 23"/>
            <p:cNvSpPr/>
            <p:nvPr/>
          </p:nvSpPr>
          <p:spPr>
            <a:xfrm>
              <a:off x="731520" y="4178808"/>
              <a:ext cx="164592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38BDF8"/>
                  </a:solidFill>
                </a:rPr>
                <a:t>Max 20 System-Wide</a:t>
              </a:r>
              <a:endParaRPr lang="en-US" sz="8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31520" y="4480560"/>
              <a:ext cx="31089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Branch Volunteer Leadership</a:t>
              </a:r>
              <a:endParaRPr lang="en-US" sz="8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023360" y="3813048"/>
              <a:ext cx="7406640" cy="8961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Custom Forms Builder (Create, Publish, Close)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Volunteer Response Review &amp; Status Approvals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Dynamic QR Code Attendance Generation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Allotting Gamified Performance Points &amp; Badges</a:t>
              </a:r>
              <a:endParaRPr lang="en-US" sz="95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48640" y="4937760"/>
              <a:ext cx="11091672" cy="1115568"/>
            </a:xfrm>
            <a:prstGeom prst="roundRect">
              <a:avLst>
                <a:gd name="adj" fmla="val 12295"/>
              </a:avLst>
            </a:prstGeom>
            <a:solidFill>
              <a:srgbClr val="131D31"/>
            </a:solidFill>
            <a:ln w="12700">
              <a:solidFill>
                <a:srgbClr val="FBBF2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Text 27"/>
            <p:cNvSpPr/>
            <p:nvPr/>
          </p:nvSpPr>
          <p:spPr>
            <a:xfrm>
              <a:off x="731520" y="5047488"/>
              <a:ext cx="31089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BBF2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Student Volunteer (Enrolled Member)</a:t>
              </a:r>
              <a:endParaRPr lang="en-US" sz="12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31520" y="5413248"/>
              <a:ext cx="1645920" cy="256032"/>
            </a:xfrm>
            <a:prstGeom prst="roundRect">
              <a:avLst>
                <a:gd name="adj" fmla="val 28571"/>
              </a:avLst>
            </a:prstGeom>
            <a:solidFill>
              <a:srgbClr val="0A1220"/>
            </a:solidFill>
            <a:ln w="6350">
              <a:solidFill>
                <a:srgbClr val="FBBF2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1" name="Text 29"/>
            <p:cNvSpPr/>
            <p:nvPr/>
          </p:nvSpPr>
          <p:spPr>
            <a:xfrm>
              <a:off x="731520" y="5413248"/>
              <a:ext cx="1645920" cy="25603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00" b="1" dirty="0">
                  <a:solidFill>
                    <a:srgbClr val="FBBF24"/>
                  </a:solidFill>
                </a:rPr>
                <a:t>Unlimited Self-Registration</a:t>
              </a:r>
              <a:endParaRPr lang="en-US" sz="8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31520" y="5715000"/>
              <a:ext cx="31089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Community Volunteer Participation</a:t>
              </a:r>
              <a:endParaRPr lang="en-US" sz="85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4023360" y="5047488"/>
              <a:ext cx="7406640" cy="8961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Browse Campaign Feed &amp; 1-Click Event Registration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Anti-Proxy Mobile Camera Attendance Scanning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Government myBharat ID &amp; Certificate Linking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✔ 1:1 Confidential Grievance Redressal Submissions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5A4F8DD5-C295-878C-CFDA-0AFF83D869B3}"/>
              </a:ext>
            </a:extLst>
          </p:cNvPr>
          <p:cNvGrpSpPr/>
          <p:nvPr/>
        </p:nvGrpSpPr>
        <p:grpSpPr>
          <a:xfrm>
            <a:off x="0" y="0"/>
            <a:ext cx="9144000" cy="5143500"/>
            <a:chOff x="548640" y="320040"/>
            <a:chExt cx="11155680" cy="6400800"/>
          </a:xfrm>
        </p:grpSpPr>
        <p:sp>
          <p:nvSpPr>
            <p:cNvPr id="2" name="Shape 0"/>
            <p:cNvSpPr/>
            <p:nvPr/>
          </p:nvSpPr>
          <p:spPr>
            <a:xfrm>
              <a:off x="548640" y="320040"/>
              <a:ext cx="11091672" cy="777240"/>
            </a:xfrm>
            <a:prstGeom prst="rect">
              <a:avLst/>
            </a:prstGeom>
            <a:solidFill>
              <a:srgbClr val="131D31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" name="Shape 1"/>
            <p:cNvSpPr/>
            <p:nvPr/>
          </p:nvSpPr>
          <p:spPr>
            <a:xfrm>
              <a:off x="731520" y="411480"/>
              <a:ext cx="2011680" cy="237744"/>
            </a:xfrm>
            <a:prstGeom prst="roundRect">
              <a:avLst>
                <a:gd name="adj" fmla="val 50000"/>
              </a:avLst>
            </a:prstGeom>
            <a:solidFill>
              <a:srgbClr val="064E3B"/>
            </a:solidFill>
            <a:ln w="952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 2"/>
            <p:cNvSpPr/>
            <p:nvPr/>
          </p:nvSpPr>
          <p:spPr>
            <a:xfrm>
              <a:off x="731520" y="411480"/>
              <a:ext cx="2011680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INSTITUTIONAL METRICS &amp; NAAC AUDITS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880360" y="411480"/>
              <a:ext cx="65836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Flagship 1: Academic Year Monitoring Engine</a:t>
              </a:r>
              <a:endParaRPr lang="en-US" sz="17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9692640" y="411480"/>
              <a:ext cx="1783080" cy="594360"/>
            </a:xfrm>
            <a:prstGeom prst="roundRect">
              <a:avLst>
                <a:gd name="adj" fmla="val 18462"/>
              </a:avLst>
            </a:prstGeom>
            <a:solidFill>
              <a:srgbClr val="0F172A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 5"/>
            <p:cNvSpPr/>
            <p:nvPr/>
          </p:nvSpPr>
          <p:spPr>
            <a:xfrm>
              <a:off x="9692640" y="411480"/>
              <a:ext cx="17830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VVITU NSS ERP</a:t>
              </a:r>
              <a:endParaRPr lang="en-US" sz="850" dirty="0"/>
            </a:p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Auto Portal</a:t>
              </a:r>
              <a:endParaRPr lang="en-US" sz="8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548640" y="6400800"/>
              <a:ext cx="11091672" cy="0"/>
            </a:xfrm>
            <a:prstGeom prst="line">
              <a:avLst/>
            </a:prstGeom>
            <a:noFill/>
            <a:ln w="9525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 7"/>
            <p:cNvSpPr/>
            <p:nvPr/>
          </p:nvSpPr>
          <p:spPr>
            <a:xfrm>
              <a:off x="548640" y="6446520"/>
              <a:ext cx="1109167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Vasireddy Venkatadri Institute of Technology (Autonomous) • NSS ERP Platform • https://erp-tan-six.vercel.app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48640" y="1234440"/>
              <a:ext cx="2651760" cy="1463040"/>
            </a:xfrm>
            <a:prstGeom prst="roundRect">
              <a:avLst>
                <a:gd name="adj" fmla="val 9375"/>
              </a:avLst>
            </a:prstGeom>
            <a:solidFill>
              <a:srgbClr val="131D31"/>
            </a:solidFill>
            <a:ln w="15875">
              <a:solidFill>
                <a:srgbClr val="38BDF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 9"/>
            <p:cNvSpPr/>
            <p:nvPr/>
          </p:nvSpPr>
          <p:spPr>
            <a:xfrm>
              <a:off x="685800" y="1325880"/>
              <a:ext cx="237744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94A3B8"/>
                  </a:solidFill>
                </a:rPr>
                <a:t>Active Enrolled Volunteers</a:t>
              </a:r>
              <a:endParaRPr lang="en-US" sz="95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85800" y="1600200"/>
              <a:ext cx="23774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1,200+</a:t>
              </a:r>
              <a:endParaRPr lang="en-US" sz="24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5800" y="2240280"/>
              <a:ext cx="23774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E2E8F0"/>
                  </a:solidFill>
                </a:rPr>
                <a:t>Across 10 Engineering Branches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383280" y="1234440"/>
              <a:ext cx="2651760" cy="1463040"/>
            </a:xfrm>
            <a:prstGeom prst="roundRect">
              <a:avLst>
                <a:gd name="adj" fmla="val 9375"/>
              </a:avLst>
            </a:prstGeom>
            <a:solidFill>
              <a:srgbClr val="131D31"/>
            </a:solidFill>
            <a:ln w="1587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 13"/>
            <p:cNvSpPr/>
            <p:nvPr/>
          </p:nvSpPr>
          <p:spPr>
            <a:xfrm>
              <a:off x="3520440" y="1325880"/>
              <a:ext cx="237744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94A3B8"/>
                  </a:solidFill>
                </a:rPr>
                <a:t>Verified Service Hours</a:t>
              </a:r>
              <a:endParaRPr lang="en-US" sz="95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520440" y="1600200"/>
              <a:ext cx="23774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15,000+</a:t>
              </a:r>
              <a:endParaRPr lang="en-US" sz="24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20440" y="2240280"/>
              <a:ext cx="23774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E2E8F0"/>
                  </a:solidFill>
                </a:rPr>
                <a:t>Avg 12.5 hrs / volunteer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17920" y="1234440"/>
              <a:ext cx="2651760" cy="1463040"/>
            </a:xfrm>
            <a:prstGeom prst="roundRect">
              <a:avLst>
                <a:gd name="adj" fmla="val 9375"/>
              </a:avLst>
            </a:prstGeom>
            <a:solidFill>
              <a:srgbClr val="131D31"/>
            </a:solidFill>
            <a:ln w="15875">
              <a:solidFill>
                <a:srgbClr val="FBBF2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Text 17"/>
            <p:cNvSpPr/>
            <p:nvPr/>
          </p:nvSpPr>
          <p:spPr>
            <a:xfrm>
              <a:off x="6355080" y="1325880"/>
              <a:ext cx="237744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94A3B8"/>
                  </a:solidFill>
                </a:rPr>
                <a:t>Campaigns &amp; Drives Executed</a:t>
              </a:r>
              <a:endParaRPr lang="en-US" sz="9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355080" y="1600200"/>
              <a:ext cx="23774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FBBF2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45+</a:t>
              </a:r>
              <a:endParaRPr lang="en-US" sz="24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355080" y="2240280"/>
              <a:ext cx="23774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E2E8F0"/>
                  </a:solidFill>
                </a:rPr>
                <a:t>Medical, Blood, Rallies &amp; Drives</a:t>
              </a:r>
              <a:endParaRPr lang="en-US" sz="85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9052560" y="1234440"/>
              <a:ext cx="2651760" cy="1463040"/>
            </a:xfrm>
            <a:prstGeom prst="roundRect">
              <a:avLst>
                <a:gd name="adj" fmla="val 9375"/>
              </a:avLst>
            </a:prstGeom>
            <a:solidFill>
              <a:srgbClr val="131D31"/>
            </a:solidFill>
            <a:ln w="15875">
              <a:solidFill>
                <a:srgbClr val="C084FC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 21"/>
            <p:cNvSpPr/>
            <p:nvPr/>
          </p:nvSpPr>
          <p:spPr>
            <a:xfrm>
              <a:off x="9189720" y="1325880"/>
              <a:ext cx="237744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94A3B8"/>
                  </a:solidFill>
                </a:rPr>
                <a:t>Student Unit Coordinators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9189720" y="1600200"/>
              <a:ext cx="23774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C084F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24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9189720" y="2240280"/>
              <a:ext cx="23774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E2E8F0"/>
                  </a:solidFill>
                </a:rPr>
                <a:t>Elected Branch Student Leads</a:t>
              </a:r>
              <a:endParaRPr lang="en-US" sz="85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8640" y="2834640"/>
              <a:ext cx="11091672" cy="3383280"/>
            </a:xfrm>
            <a:prstGeom prst="roundRect">
              <a:avLst>
                <a:gd name="adj" fmla="val 5405"/>
              </a:avLst>
            </a:prstGeom>
            <a:solidFill>
              <a:srgbClr val="131D31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 25"/>
            <p:cNvSpPr/>
            <p:nvPr/>
          </p:nvSpPr>
          <p:spPr>
            <a:xfrm>
              <a:off x="822960" y="3017520"/>
              <a:ext cx="1051560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 Capabilities of the Academic Year Monitoring Engine (/admin/monitoring &amp; /faculty/monitoring):</a:t>
              </a:r>
              <a:endParaRPr lang="en-US" sz="12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2960" y="3383280"/>
              <a:ext cx="10515600" cy="2651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Interactive Academic Year Selector: Switch instantaneously between AY 2026-2027, 2025-2026, 2024-2025, 2023-2024, and 2022-2023.</a:t>
              </a: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Department Performance Matrix: Live comparative leaderboard benchmarking student enrollment, events, and hours across all 10 branches (CSE, ECE, EEE, MECH, CIVIL, IT, CSM, CSD, AID, CIC).</a:t>
              </a: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5-Year Growth Progression Visualizer: Historical comparison bars tracking volunteer engagement curves across multi-year cycles.</a:t>
              </a: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Academic Year Top Volunteers Leaderboard: Recognizes highest point earners and service hour contributors for each academic session.</a:t>
              </a: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1-Click Institutional Compliance Export (CSV): Download the complete annual institutional audit report formatted for NAAC accreditation.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4CBDDB1-1AB6-981B-509C-2661ABA823A6}"/>
              </a:ext>
            </a:extLst>
          </p:cNvPr>
          <p:cNvGrpSpPr/>
          <p:nvPr/>
        </p:nvGrpSpPr>
        <p:grpSpPr>
          <a:xfrm>
            <a:off x="0" y="0"/>
            <a:ext cx="9144000" cy="5143500"/>
            <a:chOff x="548640" y="320040"/>
            <a:chExt cx="11155680" cy="6400800"/>
          </a:xfrm>
        </p:grpSpPr>
        <p:sp>
          <p:nvSpPr>
            <p:cNvPr id="2" name="Shape 0"/>
            <p:cNvSpPr/>
            <p:nvPr/>
          </p:nvSpPr>
          <p:spPr>
            <a:xfrm>
              <a:off x="548640" y="320040"/>
              <a:ext cx="11091672" cy="777240"/>
            </a:xfrm>
            <a:prstGeom prst="rect">
              <a:avLst/>
            </a:prstGeom>
            <a:solidFill>
              <a:srgbClr val="131D31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" name="Shape 1"/>
            <p:cNvSpPr/>
            <p:nvPr/>
          </p:nvSpPr>
          <p:spPr>
            <a:xfrm>
              <a:off x="731520" y="411480"/>
              <a:ext cx="2011680" cy="237744"/>
            </a:xfrm>
            <a:prstGeom prst="roundRect">
              <a:avLst>
                <a:gd name="adj" fmla="val 50000"/>
              </a:avLst>
            </a:prstGeom>
            <a:solidFill>
              <a:srgbClr val="064E3B"/>
            </a:solidFill>
            <a:ln w="952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 2"/>
            <p:cNvSpPr/>
            <p:nvPr/>
          </p:nvSpPr>
          <p:spPr>
            <a:xfrm>
              <a:off x="731520" y="411480"/>
              <a:ext cx="2011680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FISCAL ACCOUNTABILITY &amp; BUDGETS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880360" y="411480"/>
              <a:ext cx="65836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Flagship 2: Year-Wise Financial Reports &amp; Audit Ledger</a:t>
              </a:r>
              <a:endParaRPr lang="en-US" sz="17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9692640" y="411480"/>
              <a:ext cx="1783080" cy="594360"/>
            </a:xfrm>
            <a:prstGeom prst="roundRect">
              <a:avLst>
                <a:gd name="adj" fmla="val 18462"/>
              </a:avLst>
            </a:prstGeom>
            <a:solidFill>
              <a:srgbClr val="0F172A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 5"/>
            <p:cNvSpPr/>
            <p:nvPr/>
          </p:nvSpPr>
          <p:spPr>
            <a:xfrm>
              <a:off x="9692640" y="411480"/>
              <a:ext cx="17830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VVITU NSS ERP</a:t>
              </a:r>
              <a:endParaRPr lang="en-US" sz="850" dirty="0"/>
            </a:p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Auto Portal</a:t>
              </a:r>
              <a:endParaRPr lang="en-US" sz="8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548640" y="6400800"/>
              <a:ext cx="11091672" cy="0"/>
            </a:xfrm>
            <a:prstGeom prst="line">
              <a:avLst/>
            </a:prstGeom>
            <a:noFill/>
            <a:ln w="9525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 7"/>
            <p:cNvSpPr/>
            <p:nvPr/>
          </p:nvSpPr>
          <p:spPr>
            <a:xfrm>
              <a:off x="548640" y="6446520"/>
              <a:ext cx="1109167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Vasireddy Venkatadri Institute of Technology (Autonomous) • NSS ERP Platform • https://erp-tan-six.vercel.app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48640" y="1234440"/>
              <a:ext cx="2651760" cy="1463040"/>
            </a:xfrm>
            <a:prstGeom prst="roundRect">
              <a:avLst>
                <a:gd name="adj" fmla="val 9375"/>
              </a:avLst>
            </a:prstGeom>
            <a:solidFill>
              <a:srgbClr val="131D31"/>
            </a:solidFill>
            <a:ln w="15875">
              <a:solidFill>
                <a:srgbClr val="38BDF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 9"/>
            <p:cNvSpPr/>
            <p:nvPr/>
          </p:nvSpPr>
          <p:spPr>
            <a:xfrm>
              <a:off x="685800" y="1325880"/>
              <a:ext cx="237744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94A3B8"/>
                  </a:solidFill>
                </a:rPr>
                <a:t>Allocated Budget</a:t>
              </a:r>
              <a:endParaRPr lang="en-US" sz="95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85800" y="1600200"/>
              <a:ext cx="23774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20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₹1,50,000</a:t>
              </a:r>
              <a:endParaRPr lang="en-US" sz="22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5800" y="2240280"/>
              <a:ext cx="23774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E2E8F0"/>
                  </a:solidFill>
                </a:rPr>
                <a:t>Annual Institutional Grant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383280" y="1234440"/>
              <a:ext cx="2651760" cy="1463040"/>
            </a:xfrm>
            <a:prstGeom prst="roundRect">
              <a:avLst>
                <a:gd name="adj" fmla="val 9375"/>
              </a:avLst>
            </a:prstGeom>
            <a:solidFill>
              <a:srgbClr val="131D31"/>
            </a:solidFill>
            <a:ln w="15875">
              <a:solidFill>
                <a:srgbClr val="F87171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 13"/>
            <p:cNvSpPr/>
            <p:nvPr/>
          </p:nvSpPr>
          <p:spPr>
            <a:xfrm>
              <a:off x="3520440" y="1325880"/>
              <a:ext cx="237744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94A3B8"/>
                  </a:solidFill>
                </a:rPr>
                <a:t>Total Incurred Expenses</a:t>
              </a:r>
              <a:endParaRPr lang="en-US" sz="95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520440" y="1600200"/>
              <a:ext cx="23774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200" b="1" dirty="0">
                  <a:solidFill>
                    <a:srgbClr val="F8717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₹95,400</a:t>
              </a:r>
              <a:endParaRPr lang="en-US" sz="22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20440" y="2240280"/>
              <a:ext cx="23774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E2E8F0"/>
                  </a:solidFill>
                </a:rPr>
                <a:t>63.6% Budget Utilization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17920" y="1234440"/>
              <a:ext cx="2651760" cy="1463040"/>
            </a:xfrm>
            <a:prstGeom prst="roundRect">
              <a:avLst>
                <a:gd name="adj" fmla="val 9375"/>
              </a:avLst>
            </a:prstGeom>
            <a:solidFill>
              <a:srgbClr val="131D31"/>
            </a:solidFill>
            <a:ln w="15875">
              <a:solidFill>
                <a:srgbClr val="34D399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Text 17"/>
            <p:cNvSpPr/>
            <p:nvPr/>
          </p:nvSpPr>
          <p:spPr>
            <a:xfrm>
              <a:off x="6355080" y="1325880"/>
              <a:ext cx="237744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94A3B8"/>
                  </a:solidFill>
                </a:rPr>
                <a:t>Sponsorships &amp; Donations</a:t>
              </a:r>
              <a:endParaRPr lang="en-US" sz="9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355080" y="1600200"/>
              <a:ext cx="23774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200" b="1" dirty="0">
                  <a:solidFill>
                    <a:srgbClr val="34D399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₹40,000</a:t>
              </a:r>
              <a:endParaRPr lang="en-US" sz="22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355080" y="2240280"/>
              <a:ext cx="23774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E2E8F0"/>
                  </a:solidFill>
                </a:rPr>
                <a:t>External Partner Funding</a:t>
              </a:r>
              <a:endParaRPr lang="en-US" sz="85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9052560" y="1234440"/>
              <a:ext cx="2651760" cy="1463040"/>
            </a:xfrm>
            <a:prstGeom prst="roundRect">
              <a:avLst>
                <a:gd name="adj" fmla="val 9375"/>
              </a:avLst>
            </a:prstGeom>
            <a:solidFill>
              <a:srgbClr val="131D31"/>
            </a:solidFill>
            <a:ln w="15875">
              <a:solidFill>
                <a:srgbClr val="FBBF2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 21"/>
            <p:cNvSpPr/>
            <p:nvPr/>
          </p:nvSpPr>
          <p:spPr>
            <a:xfrm>
              <a:off x="9189720" y="1325880"/>
              <a:ext cx="237744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950" b="1" dirty="0">
                  <a:solidFill>
                    <a:srgbClr val="94A3B8"/>
                  </a:solidFill>
                </a:rPr>
                <a:t>Net Available Balance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9189720" y="1600200"/>
              <a:ext cx="23774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200" b="1" dirty="0">
                  <a:solidFill>
                    <a:srgbClr val="FBBF2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₹94,600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9189720" y="2240280"/>
              <a:ext cx="23774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E2E8F0"/>
                  </a:solidFill>
                </a:rPr>
                <a:t>Available for Future Drives</a:t>
              </a:r>
              <a:endParaRPr lang="en-US" sz="85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8640" y="2834640"/>
              <a:ext cx="5394960" cy="3383280"/>
            </a:xfrm>
            <a:prstGeom prst="roundRect">
              <a:avLst>
                <a:gd name="adj" fmla="val 5405"/>
              </a:avLst>
            </a:prstGeom>
            <a:solidFill>
              <a:srgbClr val="131D31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 25"/>
            <p:cNvSpPr/>
            <p:nvPr/>
          </p:nvSpPr>
          <p:spPr>
            <a:xfrm>
              <a:off x="777240" y="2971800"/>
              <a:ext cx="49377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📊 Expense Category Breakdown</a:t>
              </a:r>
              <a:endParaRPr lang="en-US" sz="12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7240" y="3383280"/>
              <a:ext cx="4937760" cy="2651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Event Logistics &amp; Venue Setup: ₹32,000 (34%)</a:t>
              </a: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Refreshments &amp; Volunteer Food: ₹24,500 (26%)</a:t>
              </a: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Medical &amp; First Aid Camp Supplies: ₹18,200 (19%)</a:t>
              </a: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Transportation &amp; Volunteer Bus Fuel: ₹12,000 (12%)</a:t>
              </a: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Printing, Banners &amp; Certificate Mementos: ₹8,700 (9%)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17920" y="2834640"/>
              <a:ext cx="5394960" cy="3383280"/>
            </a:xfrm>
            <a:prstGeom prst="roundRect">
              <a:avLst>
                <a:gd name="adj" fmla="val 5405"/>
              </a:avLst>
            </a:prstGeom>
            <a:solidFill>
              <a:srgbClr val="131D31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 28"/>
            <p:cNvSpPr/>
            <p:nvPr/>
          </p:nvSpPr>
          <p:spPr>
            <a:xfrm>
              <a:off x="6446520" y="2971800"/>
              <a:ext cx="49377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📑 Fiscal Auditing &amp; Compliance Engine</a:t>
              </a:r>
              <a:endParaRPr lang="en-US" sz="12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6446520" y="3383280"/>
              <a:ext cx="4937760" cy="2651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Budget Utilization Meter: Real-time progress bars prevent over-expenditures and ensure transparent allocation.</a:t>
              </a: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Multi-Year Audit Comparisons: Compare annual spending across 5 academic years in a single view.</a:t>
              </a: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Digital Receipt Storage: Attach and preview verified invoice URLs directly within each transaction entry.</a:t>
              </a: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1-Click Financial Audit CSV: Download itemized spreadsheets formatted for college management and auditors.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1F7F3F7D-4962-4A6E-41EA-B86FD622F1FF}"/>
              </a:ext>
            </a:extLst>
          </p:cNvPr>
          <p:cNvGrpSpPr/>
          <p:nvPr/>
        </p:nvGrpSpPr>
        <p:grpSpPr>
          <a:xfrm>
            <a:off x="0" y="-15279"/>
            <a:ext cx="9144000" cy="5158779"/>
            <a:chOff x="548640" y="320040"/>
            <a:chExt cx="11091672" cy="6400800"/>
          </a:xfrm>
        </p:grpSpPr>
        <p:sp>
          <p:nvSpPr>
            <p:cNvPr id="2" name="Shape 0"/>
            <p:cNvSpPr/>
            <p:nvPr/>
          </p:nvSpPr>
          <p:spPr>
            <a:xfrm>
              <a:off x="548640" y="320040"/>
              <a:ext cx="11091672" cy="777240"/>
            </a:xfrm>
            <a:prstGeom prst="rect">
              <a:avLst/>
            </a:prstGeom>
            <a:solidFill>
              <a:srgbClr val="131D31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" name="Shape 1"/>
            <p:cNvSpPr/>
            <p:nvPr/>
          </p:nvSpPr>
          <p:spPr>
            <a:xfrm>
              <a:off x="731520" y="411480"/>
              <a:ext cx="2011680" cy="237744"/>
            </a:xfrm>
            <a:prstGeom prst="roundRect">
              <a:avLst>
                <a:gd name="adj" fmla="val 50000"/>
              </a:avLst>
            </a:prstGeom>
            <a:solidFill>
              <a:srgbClr val="064E3B"/>
            </a:solidFill>
            <a:ln w="952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 2"/>
            <p:cNvSpPr/>
            <p:nvPr/>
          </p:nvSpPr>
          <p:spPr>
            <a:xfrm>
              <a:off x="731520" y="411480"/>
              <a:ext cx="2011680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CAMPAIGN MANAGEMENT &amp; GALLERIES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880360" y="411480"/>
              <a:ext cx="65836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Flagship 3: Unit-Wise Event Operations &amp; Media Hub</a:t>
              </a:r>
              <a:endParaRPr lang="en-US" sz="17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9692640" y="411480"/>
              <a:ext cx="1783080" cy="594360"/>
            </a:xfrm>
            <a:prstGeom prst="roundRect">
              <a:avLst>
                <a:gd name="adj" fmla="val 18462"/>
              </a:avLst>
            </a:prstGeom>
            <a:solidFill>
              <a:srgbClr val="0F172A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 5"/>
            <p:cNvSpPr/>
            <p:nvPr/>
          </p:nvSpPr>
          <p:spPr>
            <a:xfrm>
              <a:off x="9692640" y="411480"/>
              <a:ext cx="17830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VVITU NSS ERP</a:t>
              </a:r>
              <a:endParaRPr lang="en-US" sz="850" dirty="0"/>
            </a:p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Auto Portal</a:t>
              </a:r>
              <a:endParaRPr lang="en-US" sz="8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548640" y="6400800"/>
              <a:ext cx="11091672" cy="0"/>
            </a:xfrm>
            <a:prstGeom prst="line">
              <a:avLst/>
            </a:prstGeom>
            <a:noFill/>
            <a:ln w="9525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 7"/>
            <p:cNvSpPr/>
            <p:nvPr/>
          </p:nvSpPr>
          <p:spPr>
            <a:xfrm>
              <a:off x="548640" y="6446520"/>
              <a:ext cx="1109167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Vasireddy Venkatadri Institute of Technology (Autonomous) • NSS ERP Platform • https://erp-tan-six.vercel.app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48640" y="1234440"/>
              <a:ext cx="5394960" cy="2423160"/>
            </a:xfrm>
            <a:prstGeom prst="roundRect">
              <a:avLst>
                <a:gd name="adj" fmla="val 7547"/>
              </a:avLst>
            </a:prstGeom>
            <a:solidFill>
              <a:srgbClr val="131D31"/>
            </a:solidFill>
            <a:ln w="1587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Shape 9"/>
            <p:cNvSpPr/>
            <p:nvPr/>
          </p:nvSpPr>
          <p:spPr>
            <a:xfrm>
              <a:off x="731520" y="1399032"/>
              <a:ext cx="2011680" cy="237744"/>
            </a:xfrm>
            <a:prstGeom prst="roundRect">
              <a:avLst>
                <a:gd name="adj" fmla="val 30769"/>
              </a:avLst>
            </a:prstGeom>
            <a:solidFill>
              <a:srgbClr val="0A1220"/>
            </a:solidFill>
            <a:ln w="6350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 10"/>
            <p:cNvSpPr/>
            <p:nvPr/>
          </p:nvSpPr>
          <p:spPr>
            <a:xfrm>
              <a:off x="731520" y="1399032"/>
              <a:ext cx="2011680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00D2B4"/>
                  </a:solidFill>
                </a:rPr>
                <a:t>DEPARTMENTAL ISOLATION</a:t>
              </a:r>
              <a:endParaRPr lang="en-US" sz="7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31520" y="1709928"/>
              <a:ext cx="50292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Unit Scoping &amp; Tagging</a:t>
              </a:r>
              <a:endParaRPr lang="en-US" sz="13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31520" y="2103120"/>
              <a:ext cx="5029200" cy="1417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Faculty Coordinators post drives tagged under their departmental branch (e.g. CSE Unit, ECE Unit). Volunteers can filter events by their own unit or browse all college drives.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217920" y="1234440"/>
              <a:ext cx="5394960" cy="2423160"/>
            </a:xfrm>
            <a:prstGeom prst="roundRect">
              <a:avLst>
                <a:gd name="adj" fmla="val 7547"/>
              </a:avLst>
            </a:prstGeom>
            <a:solidFill>
              <a:srgbClr val="131D31"/>
            </a:solidFill>
            <a:ln w="15875">
              <a:solidFill>
                <a:srgbClr val="38BDF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Shape 14"/>
            <p:cNvSpPr/>
            <p:nvPr/>
          </p:nvSpPr>
          <p:spPr>
            <a:xfrm>
              <a:off x="6400800" y="1399032"/>
              <a:ext cx="2011680" cy="237744"/>
            </a:xfrm>
            <a:prstGeom prst="roundRect">
              <a:avLst>
                <a:gd name="adj" fmla="val 30769"/>
              </a:avLst>
            </a:prstGeom>
            <a:solidFill>
              <a:srgbClr val="0A1220"/>
            </a:solidFill>
            <a:ln w="6350">
              <a:solidFill>
                <a:srgbClr val="38BDF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 15"/>
            <p:cNvSpPr/>
            <p:nvPr/>
          </p:nvSpPr>
          <p:spPr>
            <a:xfrm>
              <a:off x="6400800" y="1399032"/>
              <a:ext cx="2011680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38BDF8"/>
                  </a:solidFill>
                </a:rPr>
                <a:t>OPTIMIZED UPLOADS</a:t>
              </a:r>
              <a:endParaRPr lang="en-US" sz="7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400800" y="1709928"/>
              <a:ext cx="50292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In-Browser Image Compressor</a:t>
              </a:r>
              <a:endParaRPr lang="en-US" sz="13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400800" y="2103120"/>
              <a:ext cx="5029200" cy="1417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High-resolution camera photos are compressed client-side (JPEG 0.8 quality, 1024px max) before uploading, preventing slow uploads and serverless timeout errors.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640" y="3794760"/>
              <a:ext cx="5394960" cy="2423160"/>
            </a:xfrm>
            <a:prstGeom prst="roundRect">
              <a:avLst>
                <a:gd name="adj" fmla="val 7547"/>
              </a:avLst>
            </a:prstGeom>
            <a:solidFill>
              <a:srgbClr val="131D31"/>
            </a:solidFill>
            <a:ln w="15875">
              <a:solidFill>
                <a:srgbClr val="FBBF2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Shape 19"/>
            <p:cNvSpPr/>
            <p:nvPr/>
          </p:nvSpPr>
          <p:spPr>
            <a:xfrm>
              <a:off x="731520" y="3959352"/>
              <a:ext cx="2011680" cy="237744"/>
            </a:xfrm>
            <a:prstGeom prst="roundRect">
              <a:avLst>
                <a:gd name="adj" fmla="val 30769"/>
              </a:avLst>
            </a:prstGeom>
            <a:solidFill>
              <a:srgbClr val="0A1220"/>
            </a:solidFill>
            <a:ln w="6350">
              <a:solidFill>
                <a:srgbClr val="FBBF2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Text 20"/>
            <p:cNvSpPr/>
            <p:nvPr/>
          </p:nvSpPr>
          <p:spPr>
            <a:xfrm>
              <a:off x="731520" y="3959352"/>
              <a:ext cx="2011680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FBBF24"/>
                  </a:solidFill>
                </a:rPr>
                <a:t>ALBUM GALLERIES</a:t>
              </a:r>
              <a:endParaRPr lang="en-US" sz="75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731520" y="4270248"/>
              <a:ext cx="50292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Interactive Photo Lightbox</a:t>
              </a:r>
              <a:endParaRPr lang="en-US" sz="13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1520" y="4663440"/>
              <a:ext cx="5029200" cy="1417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Each campaign features an interactive photo gallery with captions, uploader attribution, and full-screen lightbox viewing accessible to volunteers and coordinators.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217920" y="3794760"/>
              <a:ext cx="5394960" cy="2423160"/>
            </a:xfrm>
            <a:prstGeom prst="roundRect">
              <a:avLst>
                <a:gd name="adj" fmla="val 7547"/>
              </a:avLst>
            </a:prstGeom>
            <a:solidFill>
              <a:srgbClr val="131D31"/>
            </a:solidFill>
            <a:ln w="15875">
              <a:solidFill>
                <a:srgbClr val="C084FC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6" name="Shape 24"/>
            <p:cNvSpPr/>
            <p:nvPr/>
          </p:nvSpPr>
          <p:spPr>
            <a:xfrm>
              <a:off x="6400800" y="3959352"/>
              <a:ext cx="2011680" cy="237744"/>
            </a:xfrm>
            <a:prstGeom prst="roundRect">
              <a:avLst>
                <a:gd name="adj" fmla="val 30769"/>
              </a:avLst>
            </a:prstGeom>
            <a:solidFill>
              <a:srgbClr val="0A1220"/>
            </a:solidFill>
            <a:ln w="6350">
              <a:solidFill>
                <a:srgbClr val="C084FC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 25"/>
            <p:cNvSpPr/>
            <p:nvPr/>
          </p:nvSpPr>
          <p:spPr>
            <a:xfrm>
              <a:off x="6400800" y="3959352"/>
              <a:ext cx="2011680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750" b="1" dirty="0">
                  <a:solidFill>
                    <a:srgbClr val="C084FC"/>
                  </a:solidFill>
                </a:rPr>
                <a:t>CAMPUS TRANSPARENCY</a:t>
              </a:r>
              <a:endParaRPr lang="en-US" sz="75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6400800" y="4270248"/>
              <a:ext cx="50292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Public Visitor Feed Integration</a:t>
              </a:r>
              <a:endParaRPr lang="en-US" sz="13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00800" y="4663440"/>
              <a:ext cx="5029200" cy="1417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Photos uploaded by unit faculty coordinators automatically feed into the public visitor directory with branch badges, showcasing social impact to parents and guests.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02C2D6D0-1F42-E874-8E7A-B9CE7A28FC0A}"/>
              </a:ext>
            </a:extLst>
          </p:cNvPr>
          <p:cNvGrpSpPr/>
          <p:nvPr/>
        </p:nvGrpSpPr>
        <p:grpSpPr>
          <a:xfrm>
            <a:off x="0" y="0"/>
            <a:ext cx="9136992" cy="5143500"/>
            <a:chOff x="548640" y="320040"/>
            <a:chExt cx="11155680" cy="6400800"/>
          </a:xfrm>
        </p:grpSpPr>
        <p:sp>
          <p:nvSpPr>
            <p:cNvPr id="2" name="Shape 0"/>
            <p:cNvSpPr/>
            <p:nvPr/>
          </p:nvSpPr>
          <p:spPr>
            <a:xfrm>
              <a:off x="548640" y="320040"/>
              <a:ext cx="11091672" cy="777240"/>
            </a:xfrm>
            <a:prstGeom prst="rect">
              <a:avLst/>
            </a:prstGeom>
            <a:solidFill>
              <a:srgbClr val="131D31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" name="Shape 1"/>
            <p:cNvSpPr/>
            <p:nvPr/>
          </p:nvSpPr>
          <p:spPr>
            <a:xfrm>
              <a:off x="731520" y="411480"/>
              <a:ext cx="2011680" cy="237744"/>
            </a:xfrm>
            <a:prstGeom prst="roundRect">
              <a:avLst>
                <a:gd name="adj" fmla="val 50000"/>
              </a:avLst>
            </a:prstGeom>
            <a:solidFill>
              <a:srgbClr val="064E3B"/>
            </a:solidFill>
            <a:ln w="952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 2"/>
            <p:cNvSpPr/>
            <p:nvPr/>
          </p:nvSpPr>
          <p:spPr>
            <a:xfrm>
              <a:off x="731520" y="411480"/>
              <a:ext cx="2011680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VERIFIED PHYSICAL PARTICIPATION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880360" y="411480"/>
              <a:ext cx="65836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Flagship 4: Anti-Proxy QR Attendance Gate</a:t>
              </a:r>
              <a:endParaRPr lang="en-US" sz="17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9692640" y="411480"/>
              <a:ext cx="1783080" cy="594360"/>
            </a:xfrm>
            <a:prstGeom prst="roundRect">
              <a:avLst>
                <a:gd name="adj" fmla="val 18462"/>
              </a:avLst>
            </a:prstGeom>
            <a:solidFill>
              <a:srgbClr val="0F172A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 5"/>
            <p:cNvSpPr/>
            <p:nvPr/>
          </p:nvSpPr>
          <p:spPr>
            <a:xfrm>
              <a:off x="9692640" y="411480"/>
              <a:ext cx="17830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VVITU NSS ERP</a:t>
              </a:r>
              <a:endParaRPr lang="en-US" sz="850" dirty="0"/>
            </a:p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Auto Portal</a:t>
              </a:r>
              <a:endParaRPr lang="en-US" sz="8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548640" y="6400800"/>
              <a:ext cx="11091672" cy="0"/>
            </a:xfrm>
            <a:prstGeom prst="line">
              <a:avLst/>
            </a:prstGeom>
            <a:noFill/>
            <a:ln w="9525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 7"/>
            <p:cNvSpPr/>
            <p:nvPr/>
          </p:nvSpPr>
          <p:spPr>
            <a:xfrm>
              <a:off x="548640" y="6446520"/>
              <a:ext cx="1109167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Vasireddy Venkatadri Institute of Technology (Autonomous) • NSS ERP Platform • https://erp-tan-six.vercel.app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48640" y="1234440"/>
              <a:ext cx="2651760" cy="4983480"/>
            </a:xfrm>
            <a:prstGeom prst="roundRect">
              <a:avLst>
                <a:gd name="adj" fmla="val 6897"/>
              </a:avLst>
            </a:prstGeom>
            <a:solidFill>
              <a:srgbClr val="131D31"/>
            </a:solidFill>
            <a:ln w="15875">
              <a:solidFill>
                <a:srgbClr val="38BDF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Shape 9"/>
            <p:cNvSpPr/>
            <p:nvPr/>
          </p:nvSpPr>
          <p:spPr>
            <a:xfrm>
              <a:off x="685800" y="1417320"/>
              <a:ext cx="548640" cy="548640"/>
            </a:xfrm>
            <a:prstGeom prst="roundRect">
              <a:avLst>
                <a:gd name="adj" fmla="val 20000"/>
              </a:avLst>
            </a:prstGeom>
            <a:solidFill>
              <a:srgbClr val="0A1220"/>
            </a:solidFill>
            <a:ln w="12700">
              <a:solidFill>
                <a:srgbClr val="38BDF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2" name="Text 10"/>
            <p:cNvSpPr/>
            <p:nvPr/>
          </p:nvSpPr>
          <p:spPr>
            <a:xfrm>
              <a:off x="685800" y="141732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38BDF8"/>
                  </a:solidFill>
                </a:rPr>
                <a:t>1</a:t>
              </a:r>
              <a:endParaRPr lang="en-US" sz="16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5800" y="2103120"/>
              <a:ext cx="23774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 1: Dynamic QR Projection</a:t>
              </a:r>
              <a:endParaRPr lang="en-US" sz="12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85800" y="2743200"/>
              <a:ext cx="2377440" cy="3291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5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Faculty Coordinator opens /faculty/events and projects a live, time-sensitive dynamic QR code on the auditorium screen during the active event drive.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383280" y="1234440"/>
              <a:ext cx="2651760" cy="4983480"/>
            </a:xfrm>
            <a:prstGeom prst="roundRect">
              <a:avLst>
                <a:gd name="adj" fmla="val 6897"/>
              </a:avLst>
            </a:prstGeom>
            <a:solidFill>
              <a:srgbClr val="131D31"/>
            </a:solidFill>
            <a:ln w="1587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Shape 14"/>
            <p:cNvSpPr/>
            <p:nvPr/>
          </p:nvSpPr>
          <p:spPr>
            <a:xfrm>
              <a:off x="3520440" y="1417320"/>
              <a:ext cx="548640" cy="548640"/>
            </a:xfrm>
            <a:prstGeom prst="roundRect">
              <a:avLst>
                <a:gd name="adj" fmla="val 20000"/>
              </a:avLst>
            </a:prstGeom>
            <a:solidFill>
              <a:srgbClr val="0A1220"/>
            </a:solidFill>
            <a:ln w="12700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 15"/>
            <p:cNvSpPr/>
            <p:nvPr/>
          </p:nvSpPr>
          <p:spPr>
            <a:xfrm>
              <a:off x="3520440" y="141732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00D2B4"/>
                  </a:solidFill>
                </a:rPr>
                <a:t>2</a:t>
              </a:r>
              <a:endParaRPr lang="en-US" sz="16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520440" y="2103120"/>
              <a:ext cx="23774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 2: Mobile Camera Scan</a:t>
              </a:r>
              <a:endParaRPr lang="en-US" sz="12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520440" y="2743200"/>
              <a:ext cx="2377440" cy="3291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5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Enrolled student volunteers open /student/events on their mobile smartphones and scan the live QR code using the built-in HTML5 camera scanner.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17920" y="1234440"/>
              <a:ext cx="2651760" cy="4983480"/>
            </a:xfrm>
            <a:prstGeom prst="roundRect">
              <a:avLst>
                <a:gd name="adj" fmla="val 6897"/>
              </a:avLst>
            </a:prstGeom>
            <a:solidFill>
              <a:srgbClr val="131D31"/>
            </a:solidFill>
            <a:ln w="15875">
              <a:solidFill>
                <a:srgbClr val="FBBF2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1" name="Shape 19"/>
            <p:cNvSpPr/>
            <p:nvPr/>
          </p:nvSpPr>
          <p:spPr>
            <a:xfrm>
              <a:off x="6355080" y="1417320"/>
              <a:ext cx="548640" cy="548640"/>
            </a:xfrm>
            <a:prstGeom prst="roundRect">
              <a:avLst>
                <a:gd name="adj" fmla="val 20000"/>
              </a:avLst>
            </a:prstGeom>
            <a:solidFill>
              <a:srgbClr val="0A1220"/>
            </a:solidFill>
            <a:ln w="12700">
              <a:solidFill>
                <a:srgbClr val="FBBF2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2" name="Text 20"/>
            <p:cNvSpPr/>
            <p:nvPr/>
          </p:nvSpPr>
          <p:spPr>
            <a:xfrm>
              <a:off x="6355080" y="141732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BBF24"/>
                  </a:solidFill>
                </a:rPr>
                <a:t>3</a:t>
              </a:r>
              <a:endParaRPr lang="en-US" sz="16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355080" y="2103120"/>
              <a:ext cx="23774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 3: Anti-Proxy Validation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355080" y="2743200"/>
              <a:ext cx="2377440" cy="3291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5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The edge gate authenticates active registration, verifies single-scan validity, prevents duplicate logins, and eliminates screenshot forwarding fraud.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9052560" y="1234440"/>
              <a:ext cx="2651760" cy="4983480"/>
            </a:xfrm>
            <a:prstGeom prst="roundRect">
              <a:avLst>
                <a:gd name="adj" fmla="val 6897"/>
              </a:avLst>
            </a:prstGeom>
            <a:solidFill>
              <a:srgbClr val="131D31"/>
            </a:solidFill>
            <a:ln w="15875">
              <a:solidFill>
                <a:srgbClr val="34D399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6" name="Shape 24"/>
            <p:cNvSpPr/>
            <p:nvPr/>
          </p:nvSpPr>
          <p:spPr>
            <a:xfrm>
              <a:off x="9189720" y="1417320"/>
              <a:ext cx="548640" cy="548640"/>
            </a:xfrm>
            <a:prstGeom prst="roundRect">
              <a:avLst>
                <a:gd name="adj" fmla="val 20000"/>
              </a:avLst>
            </a:prstGeom>
            <a:solidFill>
              <a:srgbClr val="0A1220"/>
            </a:solidFill>
            <a:ln w="12700">
              <a:solidFill>
                <a:srgbClr val="34D399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 25"/>
            <p:cNvSpPr/>
            <p:nvPr/>
          </p:nvSpPr>
          <p:spPr>
            <a:xfrm>
              <a:off x="9189720" y="1417320"/>
              <a:ext cx="5486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34D399"/>
                  </a:solidFill>
                </a:rPr>
                <a:t>4</a:t>
              </a:r>
              <a:endParaRPr lang="en-US" sz="16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9189720" y="2103120"/>
              <a:ext cx="237744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 4: Automated Credit (+3 hrs)</a:t>
              </a:r>
              <a:endParaRPr lang="en-US" sz="12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9189720" y="2743200"/>
              <a:ext cx="2377440" cy="3291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5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The system instantly records verified physical presence and credits +3 verified community service hours directly to the student portfolio transcript.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5E946B9C-2F6C-D9A2-4D8D-08F68504CFA9}"/>
              </a:ext>
            </a:extLst>
          </p:cNvPr>
          <p:cNvGrpSpPr/>
          <p:nvPr/>
        </p:nvGrpSpPr>
        <p:grpSpPr>
          <a:xfrm>
            <a:off x="0" y="0"/>
            <a:ext cx="9144000" cy="5143500"/>
            <a:chOff x="548640" y="320040"/>
            <a:chExt cx="11155680" cy="6400800"/>
          </a:xfrm>
        </p:grpSpPr>
        <p:sp>
          <p:nvSpPr>
            <p:cNvPr id="2" name="Shape 0"/>
            <p:cNvSpPr/>
            <p:nvPr/>
          </p:nvSpPr>
          <p:spPr>
            <a:xfrm>
              <a:off x="548640" y="320040"/>
              <a:ext cx="11091672" cy="777240"/>
            </a:xfrm>
            <a:prstGeom prst="rect">
              <a:avLst/>
            </a:prstGeom>
            <a:solidFill>
              <a:srgbClr val="131D31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" name="Shape 1"/>
            <p:cNvSpPr/>
            <p:nvPr/>
          </p:nvSpPr>
          <p:spPr>
            <a:xfrm>
              <a:off x="731520" y="411480"/>
              <a:ext cx="2011680" cy="237744"/>
            </a:xfrm>
            <a:prstGeom prst="roundRect">
              <a:avLst>
                <a:gd name="adj" fmla="val 50000"/>
              </a:avLst>
            </a:prstGeom>
            <a:solidFill>
              <a:srgbClr val="064E3B"/>
            </a:solidFill>
            <a:ln w="952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 2"/>
            <p:cNvSpPr/>
            <p:nvPr/>
          </p:nvSpPr>
          <p:spPr>
            <a:xfrm>
              <a:off x="731520" y="411480"/>
              <a:ext cx="2011680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SURVEYS, REGISTRATIONS &amp; ANALYTICS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880360" y="411480"/>
              <a:ext cx="65836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Flagship 5: Dynamic Custom Form Builder &amp; Submissions</a:t>
              </a:r>
              <a:endParaRPr lang="en-US" sz="17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9692640" y="411480"/>
              <a:ext cx="1783080" cy="594360"/>
            </a:xfrm>
            <a:prstGeom prst="roundRect">
              <a:avLst>
                <a:gd name="adj" fmla="val 18462"/>
              </a:avLst>
            </a:prstGeom>
            <a:solidFill>
              <a:srgbClr val="0F172A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 5"/>
            <p:cNvSpPr/>
            <p:nvPr/>
          </p:nvSpPr>
          <p:spPr>
            <a:xfrm>
              <a:off x="9692640" y="411480"/>
              <a:ext cx="17830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VVITU NSS ERP</a:t>
              </a:r>
              <a:endParaRPr lang="en-US" sz="850" dirty="0"/>
            </a:p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Auto Portal</a:t>
              </a:r>
              <a:endParaRPr lang="en-US" sz="8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548640" y="6400800"/>
              <a:ext cx="11091672" cy="0"/>
            </a:xfrm>
            <a:prstGeom prst="line">
              <a:avLst/>
            </a:prstGeom>
            <a:noFill/>
            <a:ln w="9525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 7"/>
            <p:cNvSpPr/>
            <p:nvPr/>
          </p:nvSpPr>
          <p:spPr>
            <a:xfrm>
              <a:off x="548640" y="6446520"/>
              <a:ext cx="1109167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Vasireddy Venkatadri Institute of Technology (Autonomous) • NSS ERP Platform • https://erp-tan-six.vercel.app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48640" y="1234440"/>
              <a:ext cx="2651760" cy="4983480"/>
            </a:xfrm>
            <a:prstGeom prst="roundRect">
              <a:avLst>
                <a:gd name="adj" fmla="val 6897"/>
              </a:avLst>
            </a:prstGeom>
            <a:solidFill>
              <a:srgbClr val="131D31"/>
            </a:solidFill>
            <a:ln w="15875">
              <a:solidFill>
                <a:srgbClr val="38BDF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 9"/>
            <p:cNvSpPr/>
            <p:nvPr/>
          </p:nvSpPr>
          <p:spPr>
            <a:xfrm>
              <a:off x="685800" y="1417320"/>
              <a:ext cx="237744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18+ Input Field Types</a:t>
              </a:r>
              <a:endParaRPr lang="en-US" sz="1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85800" y="2011680"/>
              <a:ext cx="2377440" cy="4023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Short text &amp; multi-line paragraphs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Single-select dropdowns &amp; radio groups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Multi-select checkboxes &amp; tag groups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Rating scales &amp; linear 1-10 matrices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Yes/No toggles &amp; file attachments</a:t>
              </a:r>
              <a:endParaRPr lang="en-US" sz="9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83280" y="1234440"/>
              <a:ext cx="2651760" cy="4983480"/>
            </a:xfrm>
            <a:prstGeom prst="roundRect">
              <a:avLst>
                <a:gd name="adj" fmla="val 6897"/>
              </a:avLst>
            </a:prstGeom>
            <a:solidFill>
              <a:srgbClr val="131D31"/>
            </a:solidFill>
            <a:ln w="1587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Text 12"/>
            <p:cNvSpPr/>
            <p:nvPr/>
          </p:nvSpPr>
          <p:spPr>
            <a:xfrm>
              <a:off x="3520440" y="1417320"/>
              <a:ext cx="237744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Publishing Lifecycle</a:t>
              </a:r>
              <a:endParaRPr lang="en-US" sz="12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520440" y="2011680"/>
              <a:ext cx="2377440" cy="4023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DRAFT: In-progress form composition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PUBLISHED: Live for student submissions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CLOSED: Archived read-only state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Branch scoping: Target specific units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Submission quota controls</a:t>
              </a:r>
              <a:endParaRPr lang="en-US" sz="95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217920" y="1234440"/>
              <a:ext cx="2651760" cy="4983480"/>
            </a:xfrm>
            <a:prstGeom prst="roundRect">
              <a:avLst>
                <a:gd name="adj" fmla="val 6897"/>
              </a:avLst>
            </a:prstGeom>
            <a:solidFill>
              <a:srgbClr val="131D31"/>
            </a:solidFill>
            <a:ln w="15875">
              <a:solidFill>
                <a:srgbClr val="FBBF2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 15"/>
            <p:cNvSpPr/>
            <p:nvPr/>
          </p:nvSpPr>
          <p:spPr>
            <a:xfrm>
              <a:off x="6355080" y="1417320"/>
              <a:ext cx="237744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FBBF2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Multi-Stage Review Workflow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355080" y="2011680"/>
              <a:ext cx="2377440" cy="4023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SUBMITTED: Initial volunteer entry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UNDER_REVIEW: Coordinator audit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APPROVED: Validated registration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REJECTED: Feedback note appended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Audit logs with reviewer names</a:t>
              </a:r>
              <a:endParaRPr lang="en-US" sz="9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9052560" y="1234440"/>
              <a:ext cx="2651760" cy="4983480"/>
            </a:xfrm>
            <a:prstGeom prst="roundRect">
              <a:avLst>
                <a:gd name="adj" fmla="val 6897"/>
              </a:avLst>
            </a:prstGeom>
            <a:solidFill>
              <a:srgbClr val="131D31"/>
            </a:solidFill>
            <a:ln w="15875">
              <a:solidFill>
                <a:srgbClr val="C084FC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0" name="Text 18"/>
            <p:cNvSpPr/>
            <p:nvPr/>
          </p:nvSpPr>
          <p:spPr>
            <a:xfrm>
              <a:off x="9189720" y="1417320"/>
              <a:ext cx="237744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C084F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Visual Analytics &amp; Excel Export</a:t>
              </a:r>
              <a:endParaRPr lang="en-US" sz="12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9189720" y="2011680"/>
              <a:ext cx="2377440" cy="4023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Real-time submission counters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Categorical response distribution charts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1-Click .xlsx Excel matrix export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CSV export for external tools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Instant search by roll number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A63B98B-A40D-3197-A21A-82CF4F5AF79E}"/>
              </a:ext>
            </a:extLst>
          </p:cNvPr>
          <p:cNvGrpSpPr/>
          <p:nvPr/>
        </p:nvGrpSpPr>
        <p:grpSpPr>
          <a:xfrm>
            <a:off x="0" y="0"/>
            <a:ext cx="9144000" cy="5143500"/>
            <a:chOff x="548640" y="320040"/>
            <a:chExt cx="11109960" cy="6400800"/>
          </a:xfrm>
        </p:grpSpPr>
        <p:sp>
          <p:nvSpPr>
            <p:cNvPr id="2" name="Shape 0"/>
            <p:cNvSpPr/>
            <p:nvPr/>
          </p:nvSpPr>
          <p:spPr>
            <a:xfrm>
              <a:off x="548640" y="320040"/>
              <a:ext cx="11091672" cy="777240"/>
            </a:xfrm>
            <a:prstGeom prst="rect">
              <a:avLst/>
            </a:prstGeom>
            <a:solidFill>
              <a:srgbClr val="131D31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" name="Shape 1"/>
            <p:cNvSpPr/>
            <p:nvPr/>
          </p:nvSpPr>
          <p:spPr>
            <a:xfrm>
              <a:off x="731520" y="411480"/>
              <a:ext cx="2011680" cy="237744"/>
            </a:xfrm>
            <a:prstGeom prst="roundRect">
              <a:avLst>
                <a:gd name="adj" fmla="val 50000"/>
              </a:avLst>
            </a:prstGeom>
            <a:solidFill>
              <a:srgbClr val="064E3B"/>
            </a:solidFill>
            <a:ln w="952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 2"/>
            <p:cNvSpPr/>
            <p:nvPr/>
          </p:nvSpPr>
          <p:spPr>
            <a:xfrm>
              <a:off x="731520" y="411480"/>
              <a:ext cx="2011680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CAMPUS TRANSPARENCY &amp; DESK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880360" y="411480"/>
              <a:ext cx="65836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Flagship 6: Faculty Leadership Showcase &amp; Public Directory</a:t>
              </a:r>
              <a:endParaRPr lang="en-US" sz="17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9692640" y="411480"/>
              <a:ext cx="1783080" cy="594360"/>
            </a:xfrm>
            <a:prstGeom prst="roundRect">
              <a:avLst>
                <a:gd name="adj" fmla="val 18462"/>
              </a:avLst>
            </a:prstGeom>
            <a:solidFill>
              <a:srgbClr val="0F172A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 5"/>
            <p:cNvSpPr/>
            <p:nvPr/>
          </p:nvSpPr>
          <p:spPr>
            <a:xfrm>
              <a:off x="9692640" y="411480"/>
              <a:ext cx="17830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VVITU NSS ERP</a:t>
              </a:r>
              <a:endParaRPr lang="en-US" sz="850" dirty="0"/>
            </a:p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Auto Portal</a:t>
              </a:r>
              <a:endParaRPr lang="en-US" sz="8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548640" y="6400800"/>
              <a:ext cx="11091672" cy="0"/>
            </a:xfrm>
            <a:prstGeom prst="line">
              <a:avLst/>
            </a:prstGeom>
            <a:noFill/>
            <a:ln w="9525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 7"/>
            <p:cNvSpPr/>
            <p:nvPr/>
          </p:nvSpPr>
          <p:spPr>
            <a:xfrm>
              <a:off x="548640" y="6446520"/>
              <a:ext cx="1109167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Vasireddy Venkatadri Institute of Technology (Autonomous) • NSS ERP Platform • https://erp-tan-six.vercel.app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48640" y="1234440"/>
              <a:ext cx="3520440" cy="4983480"/>
            </a:xfrm>
            <a:prstGeom prst="roundRect">
              <a:avLst>
                <a:gd name="adj" fmla="val 5195"/>
              </a:avLst>
            </a:prstGeom>
            <a:solidFill>
              <a:srgbClr val="131D31"/>
            </a:solidFill>
            <a:ln w="15875">
              <a:solidFill>
                <a:srgbClr val="38BDF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 9"/>
            <p:cNvSpPr/>
            <p:nvPr/>
          </p:nvSpPr>
          <p:spPr>
            <a:xfrm>
              <a:off x="731520" y="1417320"/>
              <a:ext cx="31546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 Coordinator (PC) Spotlight</a:t>
              </a:r>
              <a:endParaRPr lang="en-US" sz="125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31520" y="2011680"/>
              <a:ext cx="3154680" cy="4023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5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Institutional Vision: Highlights the Program Coordinator vision, message, and guidance.</a:t>
              </a:r>
              <a:endParaRPr lang="en-US" sz="1000" dirty="0"/>
            </a:p>
            <a:p>
              <a:pPr marL="0" indent="0">
                <a:lnSpc>
                  <a:spcPts val="15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5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Public Spotlight Card: Prominently featured on the main portal landing page.</a:t>
              </a:r>
              <a:endParaRPr lang="en-US" sz="1000" dirty="0"/>
            </a:p>
            <a:p>
              <a:pPr marL="0" indent="0">
                <a:lnSpc>
                  <a:spcPts val="15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5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Milestone Achievements: Highlights university awards, state recognitions, and major social drives.</a:t>
              </a:r>
              <a:endParaRPr lang="en-US" sz="1000" dirty="0"/>
            </a:p>
            <a:p>
              <a:pPr marL="0" indent="0">
                <a:lnSpc>
                  <a:spcPts val="15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5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Full Profile Visibility: Designation, official email, and contact channel.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343400" y="1234440"/>
              <a:ext cx="3520440" cy="4983480"/>
            </a:xfrm>
            <a:prstGeom prst="roundRect">
              <a:avLst>
                <a:gd name="adj" fmla="val 5195"/>
              </a:avLst>
            </a:prstGeom>
            <a:solidFill>
              <a:srgbClr val="131D31"/>
            </a:solidFill>
            <a:ln w="1587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Text 12"/>
            <p:cNvSpPr/>
            <p:nvPr/>
          </p:nvSpPr>
          <p:spPr>
            <a:xfrm>
              <a:off x="4526280" y="1417320"/>
              <a:ext cx="31546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 Officers (POs) Directory</a:t>
              </a:r>
              <a:endParaRPr lang="en-US" sz="125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526280" y="2011680"/>
              <a:ext cx="3154680" cy="4023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5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All 10 Engineering Branches: Lists departmental faculty coordinators with unit badges.</a:t>
              </a:r>
              <a:endParaRPr lang="en-US" sz="1000" dirty="0"/>
            </a:p>
            <a:p>
              <a:pPr marL="0" indent="0">
                <a:lnSpc>
                  <a:spcPts val="15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5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Dynamic Admin Manager (/admin/faculty-desk): Real-time CRUD tool to update bios and photos.</a:t>
              </a:r>
              <a:endParaRPr lang="en-US" sz="1000" dirty="0"/>
            </a:p>
            <a:p>
              <a:pPr marL="0" indent="0">
                <a:lnSpc>
                  <a:spcPts val="15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5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Visibility Controls: 1-click toggle to show or hide faculty profiles.</a:t>
              </a:r>
              <a:endParaRPr lang="en-US" sz="1000" dirty="0"/>
            </a:p>
            <a:p>
              <a:pPr marL="0" indent="0">
                <a:lnSpc>
                  <a:spcPts val="15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5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Direct Volunteer Routing: Students can directly locate their departmental unit officer.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8138160" y="1234440"/>
              <a:ext cx="3520440" cy="4983480"/>
            </a:xfrm>
            <a:prstGeom prst="roundRect">
              <a:avLst>
                <a:gd name="adj" fmla="val 5195"/>
              </a:avLst>
            </a:prstGeom>
            <a:solidFill>
              <a:srgbClr val="131D31"/>
            </a:solidFill>
            <a:ln w="15875">
              <a:solidFill>
                <a:srgbClr val="FBBF2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 15"/>
            <p:cNvSpPr/>
            <p:nvPr/>
          </p:nvSpPr>
          <p:spPr>
            <a:xfrm>
              <a:off x="8321040" y="1417320"/>
              <a:ext cx="31546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FBBF2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Public Visitor Directory (/visitor)</a:t>
              </a:r>
              <a:endParaRPr lang="en-US" sz="12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321040" y="2011680"/>
              <a:ext cx="3154680" cy="4023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5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Open Community Statistics: Live totals of active volunteers, drives executed, and service hours.</a:t>
              </a:r>
              <a:endParaRPr lang="en-US" sz="1000" dirty="0"/>
            </a:p>
            <a:p>
              <a:pPr marL="0" indent="0">
                <a:lnSpc>
                  <a:spcPts val="15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5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Verified Volunteer Roster: Public directory with achievement tiers (Bronze ➔ Platinum).</a:t>
              </a:r>
              <a:endParaRPr lang="en-US" sz="1000" dirty="0"/>
            </a:p>
            <a:p>
              <a:pPr marL="0" indent="0">
                <a:lnSpc>
                  <a:spcPts val="15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5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Activity Photo Feed: Real-time drive memories with departmental unit badges.</a:t>
              </a:r>
              <a:endParaRPr lang="en-US" sz="1000" dirty="0"/>
            </a:p>
            <a:p>
              <a:pPr marL="0" indent="0">
                <a:lnSpc>
                  <a:spcPts val="15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5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Strict Privacy Compliance: Mobile numbers and private emails are strictly shielded.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09BCD81D-03C2-5195-105D-B5DCA6D9F49E}"/>
              </a:ext>
            </a:extLst>
          </p:cNvPr>
          <p:cNvGrpSpPr/>
          <p:nvPr/>
        </p:nvGrpSpPr>
        <p:grpSpPr>
          <a:xfrm>
            <a:off x="4051" y="0"/>
            <a:ext cx="9139949" cy="5143500"/>
            <a:chOff x="548640" y="320040"/>
            <a:chExt cx="11155680" cy="6400800"/>
          </a:xfrm>
        </p:grpSpPr>
        <p:sp>
          <p:nvSpPr>
            <p:cNvPr id="2" name="Shape 0"/>
            <p:cNvSpPr/>
            <p:nvPr/>
          </p:nvSpPr>
          <p:spPr>
            <a:xfrm>
              <a:off x="548640" y="320040"/>
              <a:ext cx="11091672" cy="777240"/>
            </a:xfrm>
            <a:prstGeom prst="rect">
              <a:avLst/>
            </a:prstGeom>
            <a:solidFill>
              <a:srgbClr val="131D31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" name="Shape 1"/>
            <p:cNvSpPr/>
            <p:nvPr/>
          </p:nvSpPr>
          <p:spPr>
            <a:xfrm>
              <a:off x="731520" y="411480"/>
              <a:ext cx="2011680" cy="237744"/>
            </a:xfrm>
            <a:prstGeom prst="roundRect">
              <a:avLst>
                <a:gd name="adj" fmla="val 50000"/>
              </a:avLst>
            </a:prstGeom>
            <a:solidFill>
              <a:srgbClr val="064E3B"/>
            </a:solidFill>
            <a:ln w="952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 2"/>
            <p:cNvSpPr/>
            <p:nvPr/>
          </p:nvSpPr>
          <p:spPr>
            <a:xfrm>
              <a:off x="731520" y="411480"/>
              <a:ext cx="2011680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VOLUNTEER MOTIVATION &amp; RECOGNITION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880360" y="411480"/>
              <a:ext cx="65836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Flagship 7: Gamified Portfolios &amp; Government myBharat Sync</a:t>
              </a:r>
              <a:endParaRPr lang="en-US" sz="17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9692640" y="411480"/>
              <a:ext cx="1783080" cy="594360"/>
            </a:xfrm>
            <a:prstGeom prst="roundRect">
              <a:avLst>
                <a:gd name="adj" fmla="val 18462"/>
              </a:avLst>
            </a:prstGeom>
            <a:solidFill>
              <a:srgbClr val="0F172A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 5"/>
            <p:cNvSpPr/>
            <p:nvPr/>
          </p:nvSpPr>
          <p:spPr>
            <a:xfrm>
              <a:off x="9692640" y="411480"/>
              <a:ext cx="17830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VVITU NSS ERP</a:t>
              </a:r>
              <a:endParaRPr lang="en-US" sz="850" dirty="0"/>
            </a:p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Auto Portal</a:t>
              </a:r>
              <a:endParaRPr lang="en-US" sz="8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548640" y="6400800"/>
              <a:ext cx="11091672" cy="0"/>
            </a:xfrm>
            <a:prstGeom prst="line">
              <a:avLst/>
            </a:prstGeom>
            <a:noFill/>
            <a:ln w="9525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 7"/>
            <p:cNvSpPr/>
            <p:nvPr/>
          </p:nvSpPr>
          <p:spPr>
            <a:xfrm>
              <a:off x="548640" y="6446520"/>
              <a:ext cx="1109167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Vasireddy Venkatadri Institute of Technology (Autonomous) • NSS ERP Platform • https://erp-tan-six.vercel.app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48640" y="1234440"/>
              <a:ext cx="2651760" cy="2194560"/>
            </a:xfrm>
            <a:prstGeom prst="roundRect">
              <a:avLst>
                <a:gd name="adj" fmla="val 6250"/>
              </a:avLst>
            </a:prstGeom>
            <a:solidFill>
              <a:srgbClr val="131D31"/>
            </a:solidFill>
            <a:ln w="15875">
              <a:solidFill>
                <a:srgbClr val="CD7F32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 9"/>
            <p:cNvSpPr/>
            <p:nvPr/>
          </p:nvSpPr>
          <p:spPr>
            <a:xfrm>
              <a:off x="685800" y="1371600"/>
              <a:ext cx="23774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CD7F32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🥉 Bronze Tier</a:t>
              </a:r>
              <a:endParaRPr lang="en-US" sz="125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85800" y="1737360"/>
              <a:ext cx="237744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&lt; 50 Points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5800" y="2057400"/>
              <a:ext cx="2377440" cy="12801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300"/>
                </a:lnSpc>
                <a:buNone/>
              </a:pPr>
              <a:r>
                <a:rPr lang="en-US" sz="900" dirty="0">
                  <a:solidFill>
                    <a:srgbClr val="E2E8F0"/>
                  </a:solidFill>
                </a:rPr>
                <a:t>Foundational entry-level participation in campus cleanliness &amp; plantation drives.</a:t>
              </a:r>
              <a:endParaRPr lang="en-US" sz="9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383280" y="1234440"/>
              <a:ext cx="2651760" cy="2194560"/>
            </a:xfrm>
            <a:prstGeom prst="roundRect">
              <a:avLst>
                <a:gd name="adj" fmla="val 6250"/>
              </a:avLst>
            </a:prstGeom>
            <a:solidFill>
              <a:srgbClr val="131D31"/>
            </a:solidFill>
            <a:ln w="15875">
              <a:solidFill>
                <a:srgbClr val="C0C0C0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 13"/>
            <p:cNvSpPr/>
            <p:nvPr/>
          </p:nvSpPr>
          <p:spPr>
            <a:xfrm>
              <a:off x="3520440" y="1371600"/>
              <a:ext cx="23774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C0C0C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🥈 Silver Tier</a:t>
              </a:r>
              <a:endParaRPr lang="en-US" sz="125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520440" y="1737360"/>
              <a:ext cx="237744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50 – 149 Points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520440" y="2057400"/>
              <a:ext cx="2377440" cy="12801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300"/>
                </a:lnSpc>
                <a:buNone/>
              </a:pPr>
              <a:r>
                <a:rPr lang="en-US" sz="900" dirty="0">
                  <a:solidFill>
                    <a:srgbClr val="E2E8F0"/>
                  </a:solidFill>
                </a:rPr>
                <a:t>Active volunteer contributing across multiple blood donation and awareness camps.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17920" y="1234440"/>
              <a:ext cx="2651760" cy="2194560"/>
            </a:xfrm>
            <a:prstGeom prst="roundRect">
              <a:avLst>
                <a:gd name="adj" fmla="val 6250"/>
              </a:avLst>
            </a:prstGeom>
            <a:solidFill>
              <a:srgbClr val="131D31"/>
            </a:solidFill>
            <a:ln w="15875">
              <a:solidFill>
                <a:srgbClr val="FFD700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9" name="Text 17"/>
            <p:cNvSpPr/>
            <p:nvPr/>
          </p:nvSpPr>
          <p:spPr>
            <a:xfrm>
              <a:off x="6355080" y="1371600"/>
              <a:ext cx="23774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FFD7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🥇 Gold Tier</a:t>
              </a:r>
              <a:endParaRPr lang="en-US" sz="12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355080" y="1737360"/>
              <a:ext cx="237744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150 – 299 Points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355080" y="2057400"/>
              <a:ext cx="2377440" cy="12801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300"/>
                </a:lnSpc>
                <a:buNone/>
              </a:pPr>
              <a:r>
                <a:rPr lang="en-US" sz="900" dirty="0">
                  <a:solidFill>
                    <a:srgbClr val="E2E8F0"/>
                  </a:solidFill>
                </a:rPr>
                <a:t>Distinguished volunteer &amp; student coordinator driving departmental campaigns.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9052560" y="1234440"/>
              <a:ext cx="2651760" cy="2194560"/>
            </a:xfrm>
            <a:prstGeom prst="roundRect">
              <a:avLst>
                <a:gd name="adj" fmla="val 6250"/>
              </a:avLst>
            </a:prstGeom>
            <a:solidFill>
              <a:srgbClr val="131D31"/>
            </a:solidFill>
            <a:ln w="15875">
              <a:solidFill>
                <a:srgbClr val="00FFFF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 21"/>
            <p:cNvSpPr/>
            <p:nvPr/>
          </p:nvSpPr>
          <p:spPr>
            <a:xfrm>
              <a:off x="9189720" y="1371600"/>
              <a:ext cx="23774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00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💎 Platinum Tier</a:t>
              </a:r>
              <a:endParaRPr lang="en-US" sz="12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9189720" y="1737360"/>
              <a:ext cx="237744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FFFFFF"/>
                  </a:solidFill>
                </a:rPr>
                <a:t>300+ Points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9189720" y="2057400"/>
              <a:ext cx="2377440" cy="12801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300"/>
                </a:lnSpc>
                <a:buNone/>
              </a:pPr>
              <a:r>
                <a:rPr lang="en-US" sz="900" dirty="0">
                  <a:solidFill>
                    <a:srgbClr val="E2E8F0"/>
                  </a:solidFill>
                </a:rPr>
                <a:t>Exceptional institutional social impact awardee with outstanding service leadership.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8640" y="3611880"/>
              <a:ext cx="11091672" cy="2606040"/>
            </a:xfrm>
            <a:prstGeom prst="roundRect">
              <a:avLst>
                <a:gd name="adj" fmla="val 7018"/>
              </a:avLst>
            </a:prstGeom>
            <a:solidFill>
              <a:srgbClr val="131D31"/>
            </a:solidFill>
            <a:ln w="12700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27" name="Text 25"/>
            <p:cNvSpPr/>
            <p:nvPr/>
          </p:nvSpPr>
          <p:spPr>
            <a:xfrm>
              <a:off x="822960" y="3794760"/>
              <a:ext cx="1051560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🏛️ Official Government myBharat Portal Integration &amp; Service Transcripts</a:t>
              </a:r>
              <a:endParaRPr lang="en-US" sz="125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2960" y="4206240"/>
              <a:ext cx="10515600" cy="18288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myBharat National ID Sync: Student volunteers link their official Ministry of Youth Affairs myBharat volunteer IDs directly in /student/profile.</a:t>
              </a: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Verified Certificate Repository: Cloud storage and URL verification for state and national level NSS camp participation certificates.</a:t>
              </a: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100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100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Printable Institutional Service Transcript (/student/portfolio): Generates clean, printable transcripts summarizing total verified service hours, completed campaigns, and achievement badges for job and higher-education applications.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47827A9F-97B8-E9CD-91E5-B80B6F0CF939}"/>
              </a:ext>
            </a:extLst>
          </p:cNvPr>
          <p:cNvGrpSpPr/>
          <p:nvPr/>
        </p:nvGrpSpPr>
        <p:grpSpPr>
          <a:xfrm>
            <a:off x="0" y="45720"/>
            <a:ext cx="9144000" cy="5097780"/>
            <a:chOff x="548640" y="320040"/>
            <a:chExt cx="11091672" cy="6400800"/>
          </a:xfrm>
        </p:grpSpPr>
        <p:sp>
          <p:nvSpPr>
            <p:cNvPr id="2" name="Shape 0"/>
            <p:cNvSpPr/>
            <p:nvPr/>
          </p:nvSpPr>
          <p:spPr>
            <a:xfrm>
              <a:off x="548640" y="320040"/>
              <a:ext cx="11091672" cy="777240"/>
            </a:xfrm>
            <a:prstGeom prst="rect">
              <a:avLst/>
            </a:prstGeom>
            <a:solidFill>
              <a:srgbClr val="131D31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3" name="Shape 1"/>
            <p:cNvSpPr/>
            <p:nvPr/>
          </p:nvSpPr>
          <p:spPr>
            <a:xfrm>
              <a:off x="731520" y="411480"/>
              <a:ext cx="2011680" cy="237744"/>
            </a:xfrm>
            <a:prstGeom prst="roundRect">
              <a:avLst>
                <a:gd name="adj" fmla="val 50000"/>
              </a:avLst>
            </a:prstGeom>
            <a:solidFill>
              <a:srgbClr val="064E3B"/>
            </a:solidFill>
            <a:ln w="952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 2"/>
            <p:cNvSpPr/>
            <p:nvPr/>
          </p:nvSpPr>
          <p:spPr>
            <a:xfrm>
              <a:off x="731520" y="411480"/>
              <a:ext cx="2011680" cy="2377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PRESENTATION GUIDE &amp; CREDENTIALS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880360" y="411480"/>
              <a:ext cx="65836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Live Demonstration Walkthrough &amp; Test Accounts Roster</a:t>
              </a:r>
              <a:endParaRPr lang="en-US" sz="17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9692640" y="411480"/>
              <a:ext cx="1783080" cy="594360"/>
            </a:xfrm>
            <a:prstGeom prst="roundRect">
              <a:avLst>
                <a:gd name="adj" fmla="val 18462"/>
              </a:avLst>
            </a:prstGeom>
            <a:solidFill>
              <a:srgbClr val="0F172A"/>
            </a:solidFill>
            <a:ln w="12700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 5"/>
            <p:cNvSpPr/>
            <p:nvPr/>
          </p:nvSpPr>
          <p:spPr>
            <a:xfrm>
              <a:off x="9692640" y="411480"/>
              <a:ext cx="178308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VVITU NSS ERP</a:t>
              </a:r>
              <a:endParaRPr lang="en-US" sz="850" dirty="0"/>
            </a:p>
            <a:p>
              <a:pPr marL="0" indent="0" algn="ctr">
                <a:buNone/>
              </a:pPr>
              <a:r>
                <a:rPr lang="en-US" sz="85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Auto Portal</a:t>
              </a:r>
              <a:endParaRPr lang="en-US" sz="85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548640" y="6400800"/>
              <a:ext cx="11091672" cy="0"/>
            </a:xfrm>
            <a:prstGeom prst="line">
              <a:avLst/>
            </a:prstGeom>
            <a:noFill/>
            <a:ln w="9525">
              <a:solidFill>
                <a:srgbClr val="25355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 7"/>
            <p:cNvSpPr/>
            <p:nvPr/>
          </p:nvSpPr>
          <p:spPr>
            <a:xfrm>
              <a:off x="548640" y="6446520"/>
              <a:ext cx="1109167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850" dirty="0">
                  <a:solidFill>
                    <a:srgbClr val="94A3B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Vasireddy Venkatadri Institute of Technology (Autonomous) • NSS ERP Platform • https://erp-tan-six.vercel.app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48640" y="1234440"/>
              <a:ext cx="5394960" cy="4983480"/>
            </a:xfrm>
            <a:prstGeom prst="roundRect">
              <a:avLst>
                <a:gd name="adj" fmla="val 3670"/>
              </a:avLst>
            </a:prstGeom>
            <a:solidFill>
              <a:srgbClr val="131D31"/>
            </a:solidFill>
            <a:ln w="15875">
              <a:solidFill>
                <a:srgbClr val="38BDF8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 9"/>
            <p:cNvSpPr/>
            <p:nvPr/>
          </p:nvSpPr>
          <p:spPr>
            <a:xfrm>
              <a:off x="777240" y="1417320"/>
              <a:ext cx="49377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38BDF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🎬 10-Minute Live Presentation Script</a:t>
              </a:r>
              <a:endParaRPr lang="en-US" sz="1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77240" y="1828800"/>
              <a:ext cx="4937760" cy="4206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 Public Visitor Portal (/visitor): Show home page leadership spotlight, activity photo stream &amp; department directory.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 Admin AY Monitoring (/admin/monitoring): Switch academic years, show 10-branch matrix &amp; export institutional CSV.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 Financial Audit Ledger (/admin/finance): Demonstrate budget vs spend meters, category breakdowns &amp; proof receipts.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 Faculty Coordinator (/faculty/events): Show unit event updates, in-browser photo compressor &amp; attendance viewer.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E2E8F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 Student Volunteer View (/student/events): Demonstrate HTML5 mobile camera QR attendance scanning &amp; portfolio.</a:t>
              </a:r>
              <a:endParaRPr lang="en-US" sz="9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217920" y="1234440"/>
              <a:ext cx="5394960" cy="4983480"/>
            </a:xfrm>
            <a:prstGeom prst="roundRect">
              <a:avLst>
                <a:gd name="adj" fmla="val 3670"/>
              </a:avLst>
            </a:prstGeom>
            <a:solidFill>
              <a:srgbClr val="131D31"/>
            </a:solidFill>
            <a:ln w="15875">
              <a:solidFill>
                <a:srgbClr val="00D2B4"/>
              </a:solidFill>
              <a:prstDash val="solid"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Text 12"/>
            <p:cNvSpPr/>
            <p:nvPr/>
          </p:nvSpPr>
          <p:spPr>
            <a:xfrm>
              <a:off x="6446520" y="1417320"/>
              <a:ext cx="493776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D2B4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🔑 Pre-Configured Demo Accounts Roster</a:t>
              </a:r>
              <a:endParaRPr lang="en-US" sz="12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46520" y="1828800"/>
              <a:ext cx="4937760" cy="4206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System Admin 1: admin1@erp.com / Admin@12345 (Master Authority)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System Admin 2: admin2@erp.com / Admin@12345 (Operations &amp; Finance)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Faculty Coordinator (CSE): faculty.cse@erp.com / Faculty@12345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Faculty Coordinator (ECE): faculty.ece@erp.com / Faculty@12345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Student Coordinator: lead.cse1@erp.com / Student@12345 (CSE Lead)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Student Volunteer: student.cse1@erp.com / Student@12345 (Volunteer)</a:t>
              </a: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endParaRPr lang="en-US" sz="950" dirty="0"/>
            </a:p>
            <a:p>
              <a:pPr marL="0" indent="0">
                <a:lnSpc>
                  <a:spcPts val="1400"/>
                </a:lnSpc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• Production URL: https://erp-tan-six.vercel.app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2403</Words>
  <Application>Microsoft Office PowerPoint</Application>
  <PresentationFormat>On-screen Show (16:9)</PresentationFormat>
  <Paragraphs>350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Vasireddy Venkatadri Institute of Technology (Autonomous)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VVITU NSS ERP — Institutional Resource Planning &amp; Monitoring Portal</dc:title>
  <dc:subject>PptxGenJS Presentation</dc:subject>
  <dc:creator>Bhuvana Mohan Chowdary</dc:creator>
  <cp:lastModifiedBy>Bhuvana Mohan Chowdary Yenuga</cp:lastModifiedBy>
  <cp:revision>2</cp:revision>
  <dcterms:created xsi:type="dcterms:W3CDTF">2026-09-01T07:50:45Z</dcterms:created>
  <dcterms:modified xsi:type="dcterms:W3CDTF">2026-09-01T08:53:48Z</dcterms:modified>
</cp:coreProperties>
</file>